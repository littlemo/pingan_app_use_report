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257" r:id="rId3"/>
    <p:sldId id="272" r:id="rId4"/>
    <p:sldId id="266" r:id="rId6"/>
    <p:sldId id="260" r:id="rId7"/>
    <p:sldId id="270" r:id="rId8"/>
    <p:sldId id="273" r:id="rId9"/>
    <p:sldId id="263" r:id="rId10"/>
    <p:sldId id="269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智梦寻(证券HR)" initials="智梦寻(证券HR)" lastIdx="0" clrIdx="0"/>
  <p:cmAuthor id="2" name="吴凯(证券总部投资银行事业部股权质量控制团队)" initials="吴凯(证券总部投资银行事业部股权质量控制团队)" lastIdx="0" clrIdx="1"/>
  <p:cmAuthor id="3" name="HUANGSITING927" initials="H" lastIdx="0" clrIdx="2"/>
  <p:cmAuthor id="4" name="HUANGSHITING086" initials="H" lastIdx="0" clrIdx="3"/>
  <p:cmAuthor id="5" name="ZHAOYUN472" initials="Z" lastIdx="0" clrIdx="4"/>
  <p:cmAuthor id="6" name="JIANGWENQI677" initials="J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8E5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8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40408"/>
            <a:ext cx="6032499" cy="959237"/>
          </a:xfrm>
        </p:spPr>
        <p:txBody>
          <a:bodyPr wrap="square">
            <a:spAutoFit/>
          </a:bodyPr>
          <a:lstStyle>
            <a:lvl1pPr>
              <a:defRPr lang="en-US" altLang="zh-CN" sz="1600" smtClean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59"/>
          <a:stretch>
            <a:fillRect/>
          </a:stretch>
        </p:blipFill>
        <p:spPr>
          <a:xfrm>
            <a:off x="3612" y="-286323"/>
            <a:ext cx="12188388" cy="58457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36338" y="1200953"/>
            <a:ext cx="10521950" cy="2852737"/>
          </a:xfrm>
        </p:spPr>
        <p:txBody>
          <a:bodyPr anchor="b"/>
          <a:lstStyle>
            <a:lvl1pPr>
              <a:defRPr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altLang="zh-CN"/>
              <a:t>APP XX</a:t>
            </a:r>
            <a:r>
              <a:rPr lang="zh-CN" altLang="en-US"/>
              <a:t>版 重磅功能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1214755" y="1903095"/>
            <a:ext cx="5554980" cy="1768475"/>
          </a:xfrm>
        </p:spPr>
        <p:txBody>
          <a:bodyPr wrap="square">
            <a:spAutoFit/>
          </a:bodyPr>
          <a:lstStyle>
            <a:lvl1pPr>
              <a:defRPr lang="en-US" altLang="zh-CN" sz="1400" smtClean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marL="0" lvl="0">
              <a:lnSpc>
                <a:spcPct val="150000"/>
              </a:lnSpc>
            </a:pP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7125970" y="574040"/>
            <a:ext cx="3024505" cy="601535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7565" y="1988820"/>
            <a:ext cx="4356735" cy="1768475"/>
          </a:xfrm>
        </p:spPr>
        <p:txBody>
          <a:bodyPr wrap="square">
            <a:spAutoFit/>
          </a:bodyPr>
          <a:lstStyle>
            <a:lvl1pPr marL="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smtClean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marL="0" lvl="0">
              <a:lnSpc>
                <a:spcPct val="150000"/>
              </a:lnSpc>
            </a:pP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535930" y="942975"/>
            <a:ext cx="2804160" cy="557657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610600" y="942975"/>
            <a:ext cx="2804160" cy="557657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 flipV="1">
            <a:off x="1507420" y="4884389"/>
            <a:ext cx="3060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flipV="1">
            <a:off x="7055968" y="4884389"/>
            <a:ext cx="2628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6353" y="2573538"/>
            <a:ext cx="2252564" cy="208508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6287176" y="2550696"/>
            <a:ext cx="2138550" cy="2226898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610600" y="1196975"/>
            <a:ext cx="2710815" cy="53924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760980" y="1196975"/>
            <a:ext cx="2710815" cy="53924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6353" y="2573538"/>
            <a:ext cx="2252564" cy="208508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6287176" y="2550696"/>
            <a:ext cx="2138550" cy="2226898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</a:t>
            </a:r>
            <a:endParaRPr lang="en-US" altLang="zh-CN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843645" y="1105535"/>
            <a:ext cx="2639695" cy="525081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888615" y="1105535"/>
            <a:ext cx="2639695" cy="525081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 flipV="1">
            <a:off x="1697920" y="1960809"/>
            <a:ext cx="1614170" cy="15875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flipV="1">
            <a:off x="3971220" y="5824784"/>
            <a:ext cx="356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V="1">
            <a:off x="8628000" y="3199186"/>
            <a:ext cx="1800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938463" y="1166111"/>
            <a:ext cx="4706937" cy="82600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5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8212737" y="1659866"/>
            <a:ext cx="3344263" cy="1539030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483551" y="4292632"/>
            <a:ext cx="3144450" cy="138783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976755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041015" y="199199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95123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938463" y="1166111"/>
            <a:ext cx="4706937" cy="82600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8212737" y="1659866"/>
            <a:ext cx="3344263" cy="1539030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483551" y="4292632"/>
            <a:ext cx="3144450" cy="1387831"/>
          </a:xfrm>
        </p:spPr>
        <p:txBody>
          <a:bodyPr>
            <a:normAutofit/>
          </a:bodyPr>
          <a:lstStyle>
            <a:lvl1pPr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976755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041015" y="199199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95123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接连接符 37"/>
          <p:cNvCxnSpPr/>
          <p:nvPr userDrawn="1"/>
        </p:nvCxnSpPr>
        <p:spPr>
          <a:xfrm flipV="1">
            <a:off x="1935746" y="3465965"/>
            <a:ext cx="284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 flipV="1">
            <a:off x="5766600" y="5477643"/>
            <a:ext cx="2844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headEnd type="oval" w="med" len="med"/>
            <a:tailEnd type="oval" w="med" len="me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3211553" y="2109613"/>
            <a:ext cx="3006367" cy="1211103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0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3955052" y="4130450"/>
            <a:ext cx="2785252" cy="1270916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431290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889115" y="143065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143129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3211553" y="2109613"/>
            <a:ext cx="3006367" cy="1211103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3916551" y="4203075"/>
            <a:ext cx="2785252" cy="1270916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/>
              <a:t>文本内容填充：正文字号</a:t>
            </a:r>
            <a:r>
              <a:rPr lang="en-US" altLang="zh-CN"/>
              <a:t>14</a:t>
            </a:r>
            <a:r>
              <a:rPr lang="zh-CN" altLang="en-US"/>
              <a:t>，字少可用</a:t>
            </a:r>
            <a:r>
              <a:rPr lang="en-US" altLang="zh-CN"/>
              <a:t>16</a:t>
            </a:r>
            <a:r>
              <a:rPr lang="zh-CN" altLang="en-US"/>
              <a:t>号。</a:t>
            </a:r>
            <a:endParaRPr lang="zh-CN" altLang="en-US"/>
          </a:p>
          <a:p>
            <a:pPr lvl="0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62745" y="1431290"/>
            <a:ext cx="230400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889115" y="1430655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236855" y="1431290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46653"/>
            <a:ext cx="10515600" cy="959237"/>
          </a:xfrm>
        </p:spPr>
        <p:txBody>
          <a:bodyPr wrap="square">
            <a:spAutoFit/>
          </a:bodyPr>
          <a:lstStyle>
            <a:lvl1pPr>
              <a:defRPr lang="en-US" altLang="zh-CN" sz="1600" smtClean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zh-CN" altLang="en-US"/>
              <a:t>用户角度的功能描述</a:t>
            </a:r>
            <a:endParaRPr lang="en-US" altLang="zh-CN"/>
          </a:p>
          <a:p>
            <a:pPr marL="0" lvl="0">
              <a:lnSpc>
                <a:spcPct val="150000"/>
              </a:lnSpc>
            </a:pPr>
            <a:r>
              <a:rPr lang="zh-CN" altLang="en-US"/>
              <a:t>功能亮点</a:t>
            </a:r>
            <a:endParaRPr lang="en-US" altLang="zh-CN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974675" y="2049462"/>
            <a:ext cx="2303780" cy="45828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291165" y="2049462"/>
            <a:ext cx="230378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23925" y="2049462"/>
            <a:ext cx="230400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607655" y="2049462"/>
            <a:ext cx="2303780" cy="4583383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38443"/>
            <a:ext cx="10909300" cy="5946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标题</a:t>
            </a:r>
            <a:r>
              <a:rPr lang="en-US" altLang="zh-CN"/>
              <a:t>/</a:t>
            </a:r>
            <a:r>
              <a:rPr lang="zh-CN" altLang="en-US"/>
              <a:t>功功能点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45CB-7BAF-4DC2-ABE5-37210EAB3B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3C64-8B52-4A75-9737-612A49CAF8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9394" y="1316816"/>
            <a:ext cx="10521950" cy="285273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5000">
                <a:latin typeface="微软雅黑" panose="020B0503020204020204" charset="-122"/>
                <a:ea typeface="微软雅黑" panose="020B0503020204020204" charset="-122"/>
              </a:rPr>
              <a:t>平安证券</a:t>
            </a:r>
            <a:r>
              <a:rPr lang="en-US" altLang="zh-CN" sz="5000">
                <a:latin typeface="微软雅黑" panose="020B0503020204020204" charset="-122"/>
                <a:ea typeface="微软雅黑" panose="020B0503020204020204" charset="-122"/>
              </a:rPr>
              <a:t>App8</a:t>
            </a:r>
            <a:r>
              <a:rPr lang="zh-CN" altLang="en-US" sz="5000">
                <a:latin typeface="微软雅黑" panose="020B0503020204020204" charset="-122"/>
                <a:ea typeface="微软雅黑" panose="020B0503020204020204" charset="-122"/>
              </a:rPr>
              <a:t>月评测</a:t>
            </a:r>
            <a:r>
              <a:rPr lang="zh-CN" altLang="en-US" sz="5000" b="0">
                <a:latin typeface="微软雅黑" panose="020B0503020204020204" charset="-122"/>
                <a:ea typeface="微软雅黑" panose="020B0503020204020204" charset="-122"/>
              </a:rPr>
              <a:t> </a:t>
            </a:r>
            <a:br>
              <a:rPr lang="en-US" altLang="zh-CN" sz="5000" b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5000" b="0">
                <a:latin typeface="微软雅黑" panose="020B0503020204020204" charset="-122"/>
                <a:ea typeface="微软雅黑" panose="020B0503020204020204" charset="-122"/>
              </a:rPr>
              <a:t>投顾重点功能介绍</a:t>
            </a:r>
            <a:endParaRPr lang="zh-CN" altLang="en-US" sz="5000" b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入口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1" name="图片 30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38200" y="138620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32" name="图片 31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369945" y="1432560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 descr="63dfe3eeeb147ebb0ee2dad286337d7c3a88ab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432560"/>
            <a:ext cx="2001520" cy="4457065"/>
          </a:xfrm>
          <a:prstGeom prst="roundRect">
            <a:avLst/>
          </a:prstGeom>
        </p:spPr>
      </p:pic>
      <p:pic>
        <p:nvPicPr>
          <p:cNvPr id="35" name="图片 34" descr="66ea8dc7e49ce9540267f015fa100ae6bbfe2db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90" y="1502410"/>
            <a:ext cx="1978025" cy="4423410"/>
          </a:xfrm>
          <a:prstGeom prst="round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2303780" y="1541145"/>
            <a:ext cx="932180" cy="506095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818380" y="1541145"/>
            <a:ext cx="932180" cy="506095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939280" y="2941320"/>
            <a:ext cx="3404870" cy="268478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用户可从首页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/“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页面，点击右上角快捷服务，进入咨询页面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65480" y="153606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3562350" y="1536065"/>
            <a:ext cx="227520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584950" y="1527175"/>
            <a:ext cx="2275205" cy="451040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9308465" y="1536065"/>
            <a:ext cx="2258695" cy="4572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集团资产查询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859155" y="942975"/>
            <a:ext cx="112198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spcAft>
                <a:spcPts val="600"/>
              </a:spcAft>
              <a:buClrTx/>
              <a:buSzTx/>
              <a:buFont typeface="+mj-lt"/>
              <a:buNone/>
            </a:pPr>
            <a:r>
              <a:rPr 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根据账户类型分为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无授权、授权不足、授权充足等三类情况：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95935" y="6206490"/>
            <a:ext cx="2764790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</a:rPr>
              <a:t>无授权：</a:t>
            </a:r>
            <a:r>
              <a:rPr lang="zh-CN" sz="1200" i="1">
                <a:latin typeface="微软雅黑" panose="020B0503020204020204" charset="-122"/>
                <a:ea typeface="微软雅黑" panose="020B0503020204020204" charset="-122"/>
              </a:rPr>
              <a:t>点进进入授权流程</a:t>
            </a:r>
            <a:endParaRPr lang="zh-CN" sz="12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17875" y="6241415"/>
            <a:ext cx="2764790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</a:rPr>
              <a:t>部分授权（仅一个钱包有数据）：</a:t>
            </a:r>
            <a:r>
              <a:rPr lang="zh-CN" sz="1200" i="1">
                <a:latin typeface="微软雅黑" panose="020B0503020204020204" charset="-122"/>
                <a:ea typeface="微软雅黑" panose="020B0503020204020204" charset="-122"/>
              </a:rPr>
              <a:t>点进进入授权流程</a:t>
            </a:r>
            <a:endParaRPr lang="zh-CN" sz="12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64935" y="6241415"/>
            <a:ext cx="2764790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</a:rPr>
              <a:t>部分授权（</a:t>
            </a:r>
            <a:r>
              <a:rPr lang="en-US" altLang="zh-CN" sz="1200" b="1" i="1">
                <a:latin typeface="微软雅黑" panose="020B0503020204020204" charset="-122"/>
                <a:ea typeface="微软雅黑" panose="020B0503020204020204" charset="-122"/>
              </a:rPr>
              <a:t>&gt;=2</a:t>
            </a: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</a:rPr>
              <a:t>个钱包有数据）：</a:t>
            </a:r>
            <a:r>
              <a:rPr lang="zh-CN" sz="1200" i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点击按钮进行资产诊断，</a:t>
            </a:r>
            <a:r>
              <a:rPr lang="zh-CN" sz="1200" i="1">
                <a:latin typeface="微软雅黑" panose="020B0503020204020204" charset="-122"/>
                <a:ea typeface="微软雅黑" panose="020B0503020204020204" charset="-122"/>
              </a:rPr>
              <a:t>点进下方文字链进入授权流程</a:t>
            </a:r>
            <a:endParaRPr lang="zh-CN" sz="12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229725" y="6241415"/>
            <a:ext cx="2764790" cy="6515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p>
            <a:pPr marL="285750" indent="-285750" algn="ctr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</a:rPr>
              <a:t>全部授权：</a:t>
            </a:r>
            <a:r>
              <a:rPr lang="zh-CN" sz="1200" i="1">
                <a:latin typeface="微软雅黑" panose="020B0503020204020204" charset="-122"/>
                <a:ea typeface="微软雅黑" panose="020B0503020204020204" charset="-122"/>
              </a:rPr>
              <a:t>进行资产诊断</a:t>
            </a:r>
            <a:endParaRPr lang="zh-CN" sz="1200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59155" y="1684020"/>
            <a:ext cx="2038350" cy="4362450"/>
            <a:chOff x="1353" y="2652"/>
            <a:chExt cx="3210" cy="6870"/>
          </a:xfrm>
        </p:grpSpPr>
        <p:pic>
          <p:nvPicPr>
            <p:cNvPr id="8" name="图片 7"/>
            <p:cNvPicPr/>
            <p:nvPr/>
          </p:nvPicPr>
          <p:blipFill>
            <a:blip r:embed="rId3"/>
            <a:srcRect l="22057" t="7449" r="70807" b="55679"/>
            <a:stretch>
              <a:fillRect/>
            </a:stretch>
          </p:blipFill>
          <p:spPr>
            <a:xfrm>
              <a:off x="1353" y="2652"/>
              <a:ext cx="3211" cy="6870"/>
            </a:xfrm>
            <a:prstGeom prst="round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rcRect b="7000"/>
            <a:stretch>
              <a:fillRect/>
            </a:stretch>
          </p:blipFill>
          <p:spPr>
            <a:xfrm>
              <a:off x="1395" y="3142"/>
              <a:ext cx="3112" cy="335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3755390" y="1684655"/>
            <a:ext cx="2009140" cy="4361180"/>
            <a:chOff x="5914" y="2653"/>
            <a:chExt cx="3164" cy="6868"/>
          </a:xfrm>
        </p:grpSpPr>
        <p:pic>
          <p:nvPicPr>
            <p:cNvPr id="15" name="图片 14"/>
            <p:cNvPicPr/>
            <p:nvPr/>
          </p:nvPicPr>
          <p:blipFill>
            <a:blip r:embed="rId3"/>
            <a:srcRect l="38317" t="7840" r="54570" b="55215"/>
            <a:stretch>
              <a:fillRect/>
            </a:stretch>
          </p:blipFill>
          <p:spPr>
            <a:xfrm>
              <a:off x="5914" y="2653"/>
              <a:ext cx="3165" cy="6869"/>
            </a:xfrm>
            <a:prstGeom prst="round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rcRect b="7000"/>
            <a:stretch>
              <a:fillRect/>
            </a:stretch>
          </p:blipFill>
          <p:spPr>
            <a:xfrm>
              <a:off x="6009" y="3049"/>
              <a:ext cx="3024" cy="335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6818630" y="1608455"/>
            <a:ext cx="1969770" cy="4348480"/>
            <a:chOff x="10738" y="2533"/>
            <a:chExt cx="3102" cy="6848"/>
          </a:xfrm>
        </p:grpSpPr>
        <p:pic>
          <p:nvPicPr>
            <p:cNvPr id="16" name="图片 15"/>
            <p:cNvPicPr/>
            <p:nvPr/>
          </p:nvPicPr>
          <p:blipFill>
            <a:blip r:embed="rId3"/>
            <a:srcRect l="46012" t="7120" r="46628" b="55313"/>
            <a:stretch>
              <a:fillRect/>
            </a:stretch>
          </p:blipFill>
          <p:spPr>
            <a:xfrm>
              <a:off x="10738" y="2533"/>
              <a:ext cx="3102" cy="6848"/>
            </a:xfrm>
            <a:prstGeom prst="round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rcRect b="7000"/>
            <a:stretch>
              <a:fillRect/>
            </a:stretch>
          </p:blipFill>
          <p:spPr>
            <a:xfrm>
              <a:off x="10833" y="3049"/>
              <a:ext cx="2892" cy="335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9525000" y="1607185"/>
            <a:ext cx="1990090" cy="4438650"/>
            <a:chOff x="15000" y="2531"/>
            <a:chExt cx="3134" cy="6990"/>
          </a:xfrm>
        </p:grpSpPr>
        <p:pic>
          <p:nvPicPr>
            <p:cNvPr id="23" name="图片 22"/>
            <p:cNvPicPr/>
            <p:nvPr/>
          </p:nvPicPr>
          <p:blipFill>
            <a:blip r:embed="rId3"/>
            <a:srcRect l="30729" t="7178" r="62185" b="55197"/>
            <a:stretch>
              <a:fillRect/>
            </a:stretch>
          </p:blipFill>
          <p:spPr>
            <a:xfrm>
              <a:off x="15000" y="2531"/>
              <a:ext cx="3134" cy="6991"/>
            </a:xfrm>
            <a:prstGeom prst="round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rcRect b="7000"/>
            <a:stretch>
              <a:fillRect/>
            </a:stretch>
          </p:blipFill>
          <p:spPr>
            <a:xfrm>
              <a:off x="15000" y="3049"/>
              <a:ext cx="3012" cy="335"/>
            </a:xfrm>
            <a:prstGeom prst="rect">
              <a:avLst/>
            </a:prstGeom>
          </p:spPr>
        </p:pic>
      </p:grpSp>
      <p:sp>
        <p:nvSpPr>
          <p:cNvPr id="22" name="矩形 21"/>
          <p:cNvSpPr/>
          <p:nvPr/>
        </p:nvSpPr>
        <p:spPr>
          <a:xfrm>
            <a:off x="2093595" y="3039110"/>
            <a:ext cx="796925" cy="389890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964305" y="4672965"/>
            <a:ext cx="1597025" cy="364490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878955" y="4588510"/>
            <a:ext cx="1909445" cy="372110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607550" y="4859655"/>
            <a:ext cx="1849120" cy="372110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集团资产结构综合诊断 - 四钱包  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8780145" y="2551430"/>
            <a:ext cx="2967355" cy="268478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用户可在对话中通过自然语言询问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我的钱放对了吗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等诊断资产的相关问句，得到相对应的现状分析。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0" name="图片 19"/>
          <p:cNvPicPr/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6047105" y="895985"/>
            <a:ext cx="2533650" cy="505650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39115" y="981075"/>
            <a:ext cx="2540635" cy="505333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2" name="矩形 21"/>
          <p:cNvSpPr/>
          <p:nvPr/>
        </p:nvSpPr>
        <p:spPr>
          <a:xfrm>
            <a:off x="936625" y="3072765"/>
            <a:ext cx="1861185" cy="137858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147695" y="2419985"/>
            <a:ext cx="2967355" cy="268478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资产诊断后，可在卡片中查看：日常开销、稳健投资、风险收益、保险保障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四个钱包的情况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36625" y="3898900"/>
            <a:ext cx="1924685" cy="1909445"/>
          </a:xfrm>
          <a:prstGeom prst="rect">
            <a:avLst/>
          </a:prstGeom>
          <a:noFill/>
          <a:ln w="28575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ff364ae36fdbcbc3d1c9d67ca2aa9d2ba7867aa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35" y="1042035"/>
            <a:ext cx="2180590" cy="4831715"/>
          </a:xfrm>
          <a:prstGeom prst="roundRect">
            <a:avLst>
              <a:gd name="adj" fmla="val 12522"/>
            </a:avLst>
          </a:prstGeom>
        </p:spPr>
      </p:pic>
      <p:grpSp>
        <p:nvGrpSpPr>
          <p:cNvPr id="8" name="组合 7"/>
          <p:cNvGrpSpPr/>
          <p:nvPr/>
        </p:nvGrpSpPr>
        <p:grpSpPr>
          <a:xfrm>
            <a:off x="792480" y="1111885"/>
            <a:ext cx="2209800" cy="4839970"/>
            <a:chOff x="1248" y="1751"/>
            <a:chExt cx="3480" cy="7622"/>
          </a:xfrm>
        </p:grpSpPr>
        <p:pic>
          <p:nvPicPr>
            <p:cNvPr id="5" name="图片 4" descr="624cacefc80253814e993e3124a069b991c16eb8"/>
            <p:cNvPicPr>
              <a:picLocks noChangeAspect="1"/>
            </p:cNvPicPr>
            <p:nvPr/>
          </p:nvPicPr>
          <p:blipFill>
            <a:blip r:embed="rId4"/>
            <a:srcRect b="55190"/>
            <a:stretch>
              <a:fillRect/>
            </a:stretch>
          </p:blipFill>
          <p:spPr>
            <a:xfrm>
              <a:off x="1248" y="1751"/>
              <a:ext cx="3480" cy="7623"/>
            </a:xfrm>
            <a:prstGeom prst="roundRect">
              <a:avLst>
                <a:gd name="adj" fmla="val 12892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rcRect b="7000"/>
            <a:stretch>
              <a:fillRect/>
            </a:stretch>
          </p:blipFill>
          <p:spPr>
            <a:xfrm>
              <a:off x="1248" y="2175"/>
              <a:ext cx="3458" cy="372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951865" y="3903345"/>
            <a:ext cx="1955800" cy="19894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25970" y="1504950"/>
            <a:ext cx="1454785" cy="4089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集团资产结构综合诊断 - 单钱包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27685" y="939165"/>
            <a:ext cx="112198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600" i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在查看集团的全景资产后，可以点击查看单个钱包内的资产具体情况。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rcRect l="2262"/>
          <a:stretch>
            <a:fillRect/>
          </a:stretch>
        </p:blipFill>
        <p:spPr>
          <a:xfrm>
            <a:off x="1291590" y="1534160"/>
            <a:ext cx="4518025" cy="41662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10335" y="5659120"/>
            <a:ext cx="42805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卡片分为4个钱包，三个资产钱包卡的标题旁可点击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图标，拉起半屏展示账户明细。【保险保障】卡一期不展示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图标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804150" y="681990"/>
            <a:ext cx="2658110" cy="5284434"/>
            <a:chOff x="11962" y="579"/>
            <a:chExt cx="4514" cy="8817"/>
          </a:xfrm>
        </p:grpSpPr>
        <p:pic>
          <p:nvPicPr>
            <p:cNvPr id="11" name="图片 10"/>
            <p:cNvPicPr/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52462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27"/>
            <a:stretch>
              <a:fillRect/>
            </a:stretch>
          </p:blipFill>
          <p:spPr>
            <a:xfrm>
              <a:off x="11962" y="579"/>
              <a:ext cx="4514" cy="8817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06" y="816"/>
              <a:ext cx="3876" cy="8462"/>
            </a:xfrm>
            <a:prstGeom prst="round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7529195" y="5980430"/>
            <a:ext cx="36118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诊断资产后，用户自然语言输入，可以细化分析单个钱包的现状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45220" y="1276350"/>
            <a:ext cx="1665605" cy="477520"/>
          </a:xfrm>
          <a:prstGeom prst="rect">
            <a:avLst/>
          </a:prstGeom>
          <a:noFill/>
          <a:ln w="38100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308225" y="6163945"/>
            <a:ext cx="210820" cy="311785"/>
            <a:chOff x="3635" y="9707"/>
            <a:chExt cx="332" cy="491"/>
          </a:xfrm>
        </p:grpSpPr>
        <p:sp>
          <p:nvSpPr>
            <p:cNvPr id="4" name="椭圆 3"/>
            <p:cNvSpPr/>
            <p:nvPr/>
          </p:nvSpPr>
          <p:spPr>
            <a:xfrm>
              <a:off x="3687" y="9793"/>
              <a:ext cx="280" cy="295"/>
            </a:xfrm>
            <a:prstGeom prst="ellipse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635" y="9707"/>
              <a:ext cx="250" cy="4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>
                  <a:solidFill>
                    <a:schemeClr val="bg1">
                      <a:lumMod val="75000"/>
                    </a:schemeClr>
                  </a:solidFill>
                  <a:latin typeface="方正粗圆简体" panose="03000509000000000000" charset="-122"/>
                  <a:ea typeface="方正粗圆简体" panose="03000509000000000000" charset="-122"/>
                </a:rPr>
                <a:t>！</a:t>
              </a:r>
              <a:endParaRPr lang="zh-CN" altLang="en-US" sz="1400">
                <a:solidFill>
                  <a:schemeClr val="bg1">
                    <a:lumMod val="75000"/>
                  </a:schemeClr>
                </a:solidFill>
                <a:latin typeface="方正粗圆简体" panose="03000509000000000000" charset="-122"/>
                <a:ea typeface="方正粗圆简体" panose="03000509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952240" y="6498590"/>
            <a:ext cx="212725" cy="311785"/>
            <a:chOff x="3632" y="9706"/>
            <a:chExt cx="335" cy="491"/>
          </a:xfrm>
        </p:grpSpPr>
        <p:sp>
          <p:nvSpPr>
            <p:cNvPr id="16" name="椭圆 15"/>
            <p:cNvSpPr/>
            <p:nvPr/>
          </p:nvSpPr>
          <p:spPr>
            <a:xfrm>
              <a:off x="3687" y="9793"/>
              <a:ext cx="280" cy="295"/>
            </a:xfrm>
            <a:prstGeom prst="ellipse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632" y="9706"/>
              <a:ext cx="250" cy="4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>
                  <a:solidFill>
                    <a:schemeClr val="bg1">
                      <a:lumMod val="75000"/>
                    </a:schemeClr>
                  </a:solidFill>
                  <a:latin typeface="方正粗圆简体" panose="03000509000000000000" charset="-122"/>
                  <a:ea typeface="方正粗圆简体" panose="03000509000000000000" charset="-122"/>
                </a:rPr>
                <a:t>！</a:t>
              </a:r>
              <a:endParaRPr lang="zh-CN" altLang="en-US" sz="1400">
                <a:solidFill>
                  <a:schemeClr val="bg1">
                    <a:lumMod val="75000"/>
                  </a:schemeClr>
                </a:solidFill>
                <a:latin typeface="方正粗圆简体" panose="03000509000000000000" charset="-122"/>
                <a:ea typeface="方正粗圆简体" panose="03000509000000000000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>
              <a:lnSpc>
                <a:spcPct val="100000"/>
              </a:lnSpc>
            </a:pPr>
            <a:r>
              <a:rPr>
                <a:sym typeface="+mn-ea"/>
              </a:rPr>
              <a:t>推荐合适的投资产品</a:t>
            </a:r>
            <a:endParaRPr>
              <a:sym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856480" y="3013710"/>
            <a:ext cx="58635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推荐合适的产品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，可筛选合适的投资产品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182219" y="928403"/>
            <a:ext cx="2853690" cy="5562600"/>
            <a:chOff x="2552" y="894"/>
            <a:chExt cx="4186" cy="8322"/>
          </a:xfrm>
        </p:grpSpPr>
        <p:pic>
          <p:nvPicPr>
            <p:cNvPr id="22" name="图片 21"/>
            <p:cNvPicPr/>
            <p:nvPr userDrawn="1"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100000" l="52462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27"/>
            <a:stretch>
              <a:fillRect/>
            </a:stretch>
          </p:blipFill>
          <p:spPr>
            <a:xfrm>
              <a:off x="2552" y="894"/>
              <a:ext cx="4186" cy="8322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图片 19" descr="8eb4010f6e0c746441876620be24cc8f0b8058da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3" y="1074"/>
              <a:ext cx="3573" cy="7989"/>
            </a:xfrm>
            <a:prstGeom prst="roundRect">
              <a:avLst/>
            </a:prstGeom>
          </p:spPr>
        </p:pic>
      </p:grpSp>
      <p:sp>
        <p:nvSpPr>
          <p:cNvPr id="15" name="矩形 14"/>
          <p:cNvSpPr/>
          <p:nvPr/>
        </p:nvSpPr>
        <p:spPr>
          <a:xfrm>
            <a:off x="1719580" y="2951480"/>
            <a:ext cx="1971040" cy="572770"/>
          </a:xfrm>
          <a:prstGeom prst="rect">
            <a:avLst/>
          </a:prstGeom>
          <a:noFill/>
          <a:ln w="38100">
            <a:solidFill>
              <a:srgbClr val="FF3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/>
              <a:t>ETF</a:t>
            </a:r>
            <a:r>
              <a:rPr lang="zh-CN" altLang="en-US"/>
              <a:t>因子选品 </a:t>
            </a:r>
            <a:r>
              <a:rPr lang="zh-CN" altLang="en-US"/>
              <a:t> 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298440" y="470535"/>
            <a:ext cx="3041650" cy="604901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491855" y="514350"/>
            <a:ext cx="3041015" cy="600456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 14"/>
          <p:cNvSpPr/>
          <p:nvPr/>
        </p:nvSpPr>
        <p:spPr>
          <a:xfrm>
            <a:off x="305435" y="2787650"/>
            <a:ext cx="4736465" cy="156845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筛选品类：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ETF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 基于用户已明确说明的产品类型、方向、因子或筛选条件，筛选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ETF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 筛选完成后给出命中产品，与注意事项说明。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270" y="1508125"/>
            <a:ext cx="4510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明确目的的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ETF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选品需求，不包含偏配置类问题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 descr="645e41ed34c05a755c7dc2479c7026dcbadb8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45" y="595630"/>
            <a:ext cx="2700020" cy="5826125"/>
          </a:xfrm>
          <a:prstGeom prst="roundRect">
            <a:avLst/>
          </a:prstGeom>
        </p:spPr>
      </p:pic>
      <p:pic>
        <p:nvPicPr>
          <p:cNvPr id="10" name="图片 9" descr="37bd914da99e317f26eae1c7dd7dbc3d3bdbbfa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635000"/>
            <a:ext cx="2717165" cy="5786755"/>
          </a:xfrm>
          <a:prstGeom prst="round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838200" y="238443"/>
            <a:ext cx="10909300" cy="594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00000"/>
              </a:lnSpc>
              <a:defRPr sz="23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基金因子选品 </a:t>
            </a:r>
            <a:r>
              <a:rPr lang="zh-CN" altLang="en-US"/>
              <a:t> </a:t>
            </a:r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9295" y="313346"/>
            <a:ext cx="468905" cy="367982"/>
            <a:chOff x="369295" y="402246"/>
            <a:chExt cx="468905" cy="367982"/>
          </a:xfrm>
        </p:grpSpPr>
        <p:sp>
          <p:nvSpPr>
            <p:cNvPr id="18" name="椭圆 17"/>
            <p:cNvSpPr/>
            <p:nvPr userDrawn="1"/>
          </p:nvSpPr>
          <p:spPr>
            <a:xfrm>
              <a:off x="369295" y="402246"/>
              <a:ext cx="367982" cy="367982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636353" y="402246"/>
              <a:ext cx="201847" cy="201847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AAC6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5298440" y="470535"/>
            <a:ext cx="3041650" cy="604901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100000" l="52462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27"/>
          <a:stretch>
            <a:fillRect/>
          </a:stretch>
        </p:blipFill>
        <p:spPr>
          <a:xfrm>
            <a:off x="8491855" y="450215"/>
            <a:ext cx="3041015" cy="6048375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 14"/>
          <p:cNvSpPr/>
          <p:nvPr/>
        </p:nvSpPr>
        <p:spPr>
          <a:xfrm>
            <a:off x="305435" y="2787650"/>
            <a:ext cx="4736465" cy="156845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lvl="0" indent="0" algn="l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筛选品类：公募基金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基于用户已明确说明的产品类型、方向、因子或筛选条件，筛选公募基金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 typeface="+mj-lt"/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筛选完成后给出命中产品，与注意事项说明。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270" y="1508125"/>
            <a:ext cx="45104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明确目的的基金因子选品需求，不包含偏配置类问题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 descr="59b12fc26c130c59ce2b0e5bdaec26028155ee0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635" y="600710"/>
            <a:ext cx="2665095" cy="5808980"/>
          </a:xfrm>
          <a:prstGeom prst="roundRect">
            <a:avLst/>
          </a:prstGeom>
        </p:spPr>
      </p:pic>
      <p:pic>
        <p:nvPicPr>
          <p:cNvPr id="10" name="图片 9" descr="7fd1af4507b001c3eb10ef085e68a776e84cf18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65" y="600075"/>
            <a:ext cx="2619375" cy="5809615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WPS 演示</Application>
  <PresentationFormat>宽屏</PresentationFormat>
  <Paragraphs>56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方正粗圆简体</vt:lpstr>
      <vt:lpstr>Arial Unicode MS</vt:lpstr>
      <vt:lpstr>等线 Light</vt:lpstr>
      <vt:lpstr>等线</vt:lpstr>
      <vt:lpstr>Office 主题​​</vt:lpstr>
      <vt:lpstr>平安证券App8月评测  投顾重点功能介绍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SHENZEYUE750</dc:creator>
  <cp:lastModifiedBy>SHENZEYUE750</cp:lastModifiedBy>
  <cp:revision>22</cp:revision>
  <dcterms:created xsi:type="dcterms:W3CDTF">2023-07-11T07:43:00Z</dcterms:created>
  <dcterms:modified xsi:type="dcterms:W3CDTF">2026-08-20T11:21:04Z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D730217FC374436A909B72A6639C6FA1_13</vt:lpwstr>
  </property>
</Properties>
</file>