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7"/>
  </p:handoutMasterIdLst>
  <p:sldIdLst>
    <p:sldId id="346" r:id="rId3"/>
    <p:sldId id="567" r:id="rId4"/>
    <p:sldId id="541" r:id="rId5"/>
    <p:sldId id="540" r:id="rId7"/>
    <p:sldId id="542" r:id="rId8"/>
    <p:sldId id="545" r:id="rId9"/>
    <p:sldId id="550" r:id="rId10"/>
    <p:sldId id="551" r:id="rId11"/>
    <p:sldId id="547" r:id="rId12"/>
    <p:sldId id="548" r:id="rId13"/>
    <p:sldId id="565" r:id="rId14"/>
    <p:sldId id="568" r:id="rId15"/>
    <p:sldId id="5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智梦寻(证券HR)" initials="智梦寻(证券HR)" lastIdx="1" clrIdx="0"/>
  <p:cmAuthor id="2" name="吴凯(证券总部投资银行事业部股权质量控制团队)" initials="吴凯(证券总部投资银行事业部股权质量控制团队)" lastIdx="1" clrIdx="1"/>
  <p:cmAuthor id="3" name="HUANGSITING927" initials="H" lastIdx="2" clrIdx="2"/>
  <p:cmAuthor id="4" name="HUANGSHITING086" initials="H" lastIdx="2" clrIdx="3"/>
  <p:cmAuthor id="5" name="ZHAOYUN472" initials="Z" lastIdx="1" clrIdx="4"/>
  <p:cmAuthor id="6" name="JIANGWENQI677" initials="J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B183"/>
    <a:srgbClr val="F8D7CD"/>
    <a:srgbClr val="595959"/>
    <a:srgbClr val="2F2F2F"/>
    <a:srgbClr val="323232"/>
    <a:srgbClr val="9494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15" autoAdjust="0"/>
    <p:restoredTop sz="93473" autoAdjust="0"/>
  </p:normalViewPr>
  <p:slideViewPr>
    <p:cSldViewPr snapToGrid="0">
      <p:cViewPr varScale="1">
        <p:scale>
          <a:sx n="85" d="100"/>
          <a:sy n="85" d="100"/>
        </p:scale>
        <p:origin x="3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68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7110B-12B7-4E6B-A4CD-8D2F97ADEC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402EF-301E-42CF-9BF2-A77B0316E60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23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140408"/>
            <a:ext cx="6032499" cy="959237"/>
          </a:xfrm>
        </p:spPr>
        <p:txBody>
          <a:bodyPr wrap="square">
            <a:spAutoFit/>
          </a:bodyPr>
          <a:lstStyle>
            <a:lvl1pPr>
              <a:defRPr lang="en-US" altLang="zh-CN" sz="1600" smtClean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/>
              <a:t>用户角度的功能描述</a:t>
            </a:r>
            <a:endParaRPr lang="en-US" altLang="zh-CN"/>
          </a:p>
          <a:p>
            <a:pPr marL="0" lvl="0">
              <a:lnSpc>
                <a:spcPct val="150000"/>
              </a:lnSpc>
            </a:pPr>
            <a:r>
              <a:rPr lang="zh-CN" altLang="en-US"/>
              <a:t>功能亮点</a:t>
            </a:r>
            <a:endParaRPr lang="en-US" altLang="zh-CN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659"/>
          <a:stretch>
            <a:fillRect/>
          </a:stretch>
        </p:blipFill>
        <p:spPr>
          <a:xfrm>
            <a:off x="3612" y="-286323"/>
            <a:ext cx="12188388" cy="584576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36338" y="1200953"/>
            <a:ext cx="10521950" cy="2852737"/>
          </a:xfrm>
        </p:spPr>
        <p:txBody>
          <a:bodyPr anchor="b"/>
          <a:lstStyle>
            <a:lvl1pPr>
              <a:defRPr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altLang="zh-CN"/>
              <a:t>APP XX</a:t>
            </a:r>
            <a:r>
              <a:rPr lang="zh-CN" altLang="en-US"/>
              <a:t>版 重磅功能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23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1214755" y="1903095"/>
            <a:ext cx="5554980" cy="1768475"/>
          </a:xfrm>
        </p:spPr>
        <p:txBody>
          <a:bodyPr wrap="square">
            <a:spAutoFit/>
          </a:bodyPr>
          <a:lstStyle>
            <a:lvl1pPr>
              <a:defRPr lang="en-US" altLang="zh-CN" sz="1400" smtClean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/>
              <a:t>用户角度的功能描述</a:t>
            </a:r>
            <a:endParaRPr lang="en-US" altLang="zh-CN"/>
          </a:p>
          <a:p>
            <a:pPr marL="0" lvl="0">
              <a:lnSpc>
                <a:spcPct val="150000"/>
              </a:lnSpc>
            </a:pPr>
            <a:r>
              <a:rPr lang="zh-CN" altLang="en-US"/>
              <a:t>功能亮点</a:t>
            </a:r>
            <a:endParaRPr lang="en-US" altLang="zh-CN"/>
          </a:p>
          <a:p>
            <a:pPr marL="0" lvl="0">
              <a:lnSpc>
                <a:spcPct val="150000"/>
              </a:lnSpc>
            </a:pPr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marL="0" lvl="0">
              <a:lnSpc>
                <a:spcPct val="150000"/>
              </a:lnSpc>
            </a:pPr>
            <a:endParaRPr lang="en-US" altLang="zh-CN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7125970" y="574040"/>
            <a:ext cx="3024505" cy="6015355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23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837565" y="1988820"/>
            <a:ext cx="4356735" cy="1768475"/>
          </a:xfrm>
        </p:spPr>
        <p:txBody>
          <a:bodyPr wrap="square">
            <a:spAutoFit/>
          </a:bodyPr>
          <a:lstStyle>
            <a:lvl1pPr marL="0" marR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400" smtClean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/>
              <a:t>用户角度的功能描述</a:t>
            </a:r>
            <a:endParaRPr lang="en-US" altLang="zh-CN"/>
          </a:p>
          <a:p>
            <a:pPr marL="0" lvl="0">
              <a:lnSpc>
                <a:spcPct val="150000"/>
              </a:lnSpc>
            </a:pPr>
            <a:r>
              <a:rPr lang="zh-CN" altLang="en-US"/>
              <a:t>功能亮点</a:t>
            </a:r>
            <a:endParaRPr lang="en-US" altLang="zh-CN"/>
          </a:p>
          <a:p>
            <a:pPr marL="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marL="0" lvl="0">
              <a:lnSpc>
                <a:spcPct val="150000"/>
              </a:lnSpc>
            </a:pPr>
            <a:endParaRPr lang="en-US" altLang="zh-CN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5535930" y="942975"/>
            <a:ext cx="2804160" cy="557657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8610600" y="942975"/>
            <a:ext cx="2804160" cy="557657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2" name="直接连接符 11"/>
          <p:cNvCxnSpPr/>
          <p:nvPr userDrawn="1"/>
        </p:nvCxnSpPr>
        <p:spPr>
          <a:xfrm flipV="1">
            <a:off x="1507420" y="4884389"/>
            <a:ext cx="3060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headEnd type="oval" w="med" len="med"/>
            <a:tailEnd type="oval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 flipV="1">
            <a:off x="7055968" y="4884389"/>
            <a:ext cx="2628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headEnd type="oval" w="med" len="med"/>
            <a:tailEnd type="oval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636353" y="2573538"/>
            <a:ext cx="2252564" cy="2085089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文本内容填充</a:t>
            </a:r>
            <a:endParaRPr lang="en-US" altLang="zh-CN"/>
          </a:p>
          <a:p>
            <a:pPr lvl="0"/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lvl="0"/>
            <a:endParaRPr lang="zh-CN" altLang="en-US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6287176" y="2550696"/>
            <a:ext cx="2138550" cy="2226898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文本内容填充</a:t>
            </a:r>
            <a:endParaRPr lang="en-US" altLang="zh-CN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lvl="0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8610600" y="1196975"/>
            <a:ext cx="2710815" cy="53924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2760980" y="1196975"/>
            <a:ext cx="2710815" cy="53924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636353" y="2573538"/>
            <a:ext cx="2252564" cy="2085089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文本内容填充</a:t>
            </a:r>
            <a:endParaRPr lang="en-US" altLang="zh-CN"/>
          </a:p>
          <a:p>
            <a:pPr lvl="0"/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lvl="0"/>
            <a:endParaRPr lang="zh-CN" altLang="en-US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6287176" y="2550696"/>
            <a:ext cx="2138550" cy="2226898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文本内容填充</a:t>
            </a:r>
            <a:endParaRPr lang="en-US" altLang="zh-CN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lvl="0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8843645" y="1105535"/>
            <a:ext cx="2639695" cy="5250815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2888615" y="1105535"/>
            <a:ext cx="2639695" cy="5250815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2" name="直接连接符 11"/>
          <p:cNvCxnSpPr/>
          <p:nvPr userDrawn="1"/>
        </p:nvCxnSpPr>
        <p:spPr>
          <a:xfrm flipV="1">
            <a:off x="1697920" y="1960809"/>
            <a:ext cx="1614170" cy="15875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headEnd type="oval" w="med" len="med"/>
            <a:tailEnd type="oval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 flipV="1">
            <a:off x="3971220" y="5824784"/>
            <a:ext cx="3564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headEnd type="oval" w="med" len="med"/>
            <a:tailEnd type="oval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 flipV="1">
            <a:off x="8628000" y="3199186"/>
            <a:ext cx="1800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headEnd type="oval" w="med" len="med"/>
            <a:tailEnd type="oval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938463" y="1166111"/>
            <a:ext cx="4706937" cy="826001"/>
          </a:xfrm>
        </p:spPr>
        <p:txBody>
          <a:bodyPr>
            <a:normAutofit/>
          </a:bodyPr>
          <a:lstStyle>
            <a:lvl1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</p:txBody>
      </p:sp>
      <p:sp>
        <p:nvSpPr>
          <p:cNvPr id="35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8212737" y="1659866"/>
            <a:ext cx="3344263" cy="1539030"/>
          </a:xfrm>
        </p:spPr>
        <p:txBody>
          <a:bodyPr>
            <a:normAutofit/>
          </a:bodyPr>
          <a:lstStyle>
            <a:lvl1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</p:txBody>
      </p:sp>
      <p:sp>
        <p:nvSpPr>
          <p:cNvPr id="36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5483551" y="4292632"/>
            <a:ext cx="3144450" cy="1387831"/>
          </a:xfrm>
        </p:spPr>
        <p:txBody>
          <a:bodyPr>
            <a:normAutofit/>
          </a:bodyPr>
          <a:lstStyle>
            <a:lvl1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9262745" y="1976755"/>
            <a:ext cx="2304000" cy="4582811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3041015" y="1991995"/>
            <a:ext cx="230400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236855" y="951230"/>
            <a:ext cx="230400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5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938463" y="1166111"/>
            <a:ext cx="4706937" cy="826001"/>
          </a:xfrm>
        </p:spPr>
        <p:txBody>
          <a:bodyPr>
            <a:normAutofit/>
          </a:bodyPr>
          <a:lstStyle>
            <a:lvl1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8212737" y="1659866"/>
            <a:ext cx="3344263" cy="1539030"/>
          </a:xfrm>
        </p:spPr>
        <p:txBody>
          <a:bodyPr>
            <a:normAutofit/>
          </a:bodyPr>
          <a:lstStyle>
            <a:lvl1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</p:txBody>
      </p:sp>
      <p:sp>
        <p:nvSpPr>
          <p:cNvPr id="30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5483551" y="4292632"/>
            <a:ext cx="3144450" cy="1387831"/>
          </a:xfrm>
        </p:spPr>
        <p:txBody>
          <a:bodyPr>
            <a:normAutofit/>
          </a:bodyPr>
          <a:lstStyle>
            <a:lvl1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9262745" y="1976755"/>
            <a:ext cx="2304000" cy="4582811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3041015" y="1991995"/>
            <a:ext cx="230400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236855" y="951230"/>
            <a:ext cx="230400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直接连接符 37"/>
          <p:cNvCxnSpPr/>
          <p:nvPr userDrawn="1"/>
        </p:nvCxnSpPr>
        <p:spPr>
          <a:xfrm flipV="1">
            <a:off x="1935746" y="3465965"/>
            <a:ext cx="2844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headEnd type="oval" w="med" len="med"/>
            <a:tailEnd type="oval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7" name="直接连接符 26"/>
          <p:cNvCxnSpPr/>
          <p:nvPr userDrawn="1"/>
        </p:nvCxnSpPr>
        <p:spPr>
          <a:xfrm flipV="1">
            <a:off x="5766600" y="5477643"/>
            <a:ext cx="2844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headEnd type="oval" w="med" len="med"/>
            <a:tailEnd type="oval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3211553" y="2109613"/>
            <a:ext cx="3006367" cy="1211103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lvl="0"/>
            <a:endParaRPr lang="zh-CN" altLang="en-US"/>
          </a:p>
        </p:txBody>
      </p:sp>
      <p:sp>
        <p:nvSpPr>
          <p:cNvPr id="40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3955052" y="4130450"/>
            <a:ext cx="2785252" cy="1270916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lvl="0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9262745" y="1431290"/>
            <a:ext cx="2304000" cy="4582811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6889115" y="1430655"/>
            <a:ext cx="230400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236855" y="1431290"/>
            <a:ext cx="230400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3211553" y="2109613"/>
            <a:ext cx="3006367" cy="1211103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lvl="0"/>
            <a:endParaRPr lang="zh-CN" altLang="en-US"/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3916551" y="4203075"/>
            <a:ext cx="2785252" cy="1270916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lvl="0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9262745" y="1431290"/>
            <a:ext cx="2304000" cy="4582811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6889115" y="1430655"/>
            <a:ext cx="230400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236855" y="1431290"/>
            <a:ext cx="230400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146653"/>
            <a:ext cx="10515600" cy="959237"/>
          </a:xfrm>
        </p:spPr>
        <p:txBody>
          <a:bodyPr wrap="square">
            <a:spAutoFit/>
          </a:bodyPr>
          <a:lstStyle>
            <a:lvl1pPr>
              <a:defRPr lang="en-US" altLang="zh-CN" sz="1600" smtClean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/>
              <a:t>用户角度的功能描述</a:t>
            </a:r>
            <a:endParaRPr lang="en-US" altLang="zh-CN"/>
          </a:p>
          <a:p>
            <a:pPr marL="0" lvl="0">
              <a:lnSpc>
                <a:spcPct val="150000"/>
              </a:lnSpc>
            </a:pPr>
            <a:r>
              <a:rPr lang="zh-CN" altLang="en-US"/>
              <a:t>功能亮点</a:t>
            </a:r>
            <a:endParaRPr lang="en-US" altLang="zh-CN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8974675" y="2049462"/>
            <a:ext cx="2303780" cy="4582811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6291165" y="2049462"/>
            <a:ext cx="230378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923925" y="2049462"/>
            <a:ext cx="230400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3607655" y="2049462"/>
            <a:ext cx="230378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9394" y="1316816"/>
            <a:ext cx="10521950" cy="2852737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5000">
                <a:latin typeface="微软雅黑" panose="020B0503020204020204" pitchFamily="34" charset="-122"/>
                <a:ea typeface="微软雅黑" panose="020B0503020204020204" pitchFamily="34" charset="-122"/>
              </a:rPr>
              <a:t>平安证券</a:t>
            </a:r>
            <a:r>
              <a:rPr lang="en-US" altLang="zh-CN" sz="5000">
                <a:latin typeface="微软雅黑" panose="020B0503020204020204" pitchFamily="34" charset="-122"/>
                <a:ea typeface="微软雅黑" panose="020B0503020204020204" pitchFamily="34" charset="-122"/>
              </a:rPr>
              <a:t>App </a:t>
            </a:r>
            <a:r>
              <a:rPr lang="en-US" sz="5000">
                <a:latin typeface="微软雅黑" panose="020B0503020204020204" pitchFamily="34" charset="-122"/>
                <a:ea typeface="微软雅黑" panose="020B0503020204020204" pitchFamily="34" charset="-122"/>
              </a:rPr>
              <a:t>10.7.0</a:t>
            </a:r>
            <a:r>
              <a:rPr lang="zh-CN" altLang="en-US" sz="5000"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r>
              <a:rPr lang="zh-CN" altLang="en-US" sz="5000" b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br>
              <a:rPr lang="en-US" altLang="zh-CN" sz="5000" b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5000" b="0">
                <a:latin typeface="微软雅黑" panose="020B0503020204020204" pitchFamily="34" charset="-122"/>
                <a:ea typeface="微软雅黑" panose="020B0503020204020204" pitchFamily="34" charset="-122"/>
              </a:rPr>
              <a:t>重点功能介绍</a:t>
            </a:r>
            <a:endParaRPr lang="zh-CN" altLang="en-US" sz="5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838200" y="238443"/>
            <a:ext cx="10909300" cy="594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00000"/>
              </a:lnSpc>
              <a:defRPr sz="23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/>
              <a:t>App</a:t>
            </a:r>
            <a:r>
              <a:rPr lang="zh-CN" altLang="en-US"/>
              <a:t>首页</a:t>
            </a:r>
            <a:r>
              <a:rPr lang="en-US" altLang="zh-CN"/>
              <a:t> —— </a:t>
            </a:r>
            <a:r>
              <a:rPr lang="zh-CN" altLang="en-US"/>
              <a:t>新增</a:t>
            </a:r>
            <a:r>
              <a:rPr lang="en-US" altLang="zh-CN"/>
              <a:t>“</a:t>
            </a:r>
            <a:r>
              <a:rPr lang="zh-CN" altLang="en-US"/>
              <a:t>内容场</a:t>
            </a:r>
            <a:r>
              <a:rPr lang="en-US" altLang="zh-CN"/>
              <a:t>”</a:t>
            </a:r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5298440" y="470535"/>
            <a:ext cx="3041650" cy="604901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8491855" y="565785"/>
            <a:ext cx="3041015" cy="6048375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5" name="矩形 14"/>
          <p:cNvSpPr/>
          <p:nvPr/>
        </p:nvSpPr>
        <p:spPr>
          <a:xfrm>
            <a:off x="305435" y="2787650"/>
            <a:ext cx="4736465" cy="2306955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 marL="342900" lvl="0" indent="-342900" algn="l">
              <a:lnSpc>
                <a:spcPct val="150000"/>
              </a:lnSpc>
              <a:buClrTx/>
              <a:buSzTx/>
              <a:buFont typeface="+mj-lt"/>
              <a:buAutoNum type="arabicPeriod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优化内容展示逻辑，根据用户浏览场景智能匹配市场资讯、热点解读及投资观点，增强信息触达精准性；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buClrTx/>
              <a:buSzTx/>
              <a:buFont typeface="+mj-lt"/>
              <a:buAutoNum type="arabicPeriod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强化首页信息承载能力，实现行情、账户信息与市场动态的有机融合，提升用户使用体验。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93065" y="5930265"/>
            <a:ext cx="4996815" cy="44513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路径：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首页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下方内容条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上滑即可展开</a:t>
            </a:r>
            <a:endParaRPr lang="zh-CN" altLang="en-US" sz="1400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614670" y="681355"/>
            <a:ext cx="2618105" cy="5614035"/>
          </a:xfrm>
          <a:prstGeom prst="roundRect">
            <a:avLst>
              <a:gd name="adj" fmla="val 11181"/>
            </a:avLst>
          </a:prstGeom>
        </p:spPr>
      </p:pic>
      <p:sp>
        <p:nvSpPr>
          <p:cNvPr id="8" name="圆角矩形 7"/>
          <p:cNvSpPr/>
          <p:nvPr/>
        </p:nvSpPr>
        <p:spPr>
          <a:xfrm>
            <a:off x="5648960" y="5509260"/>
            <a:ext cx="2545080" cy="2895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 descr="展开态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545" y="761365"/>
            <a:ext cx="2637155" cy="5614035"/>
          </a:xfrm>
          <a:prstGeom prst="roundRect">
            <a:avLst>
              <a:gd name="adj" fmla="val 10739"/>
            </a:avLst>
          </a:prstGeom>
        </p:spPr>
      </p:pic>
      <p:sp>
        <p:nvSpPr>
          <p:cNvPr id="11" name="圆角矩形 10"/>
          <p:cNvSpPr/>
          <p:nvPr/>
        </p:nvSpPr>
        <p:spPr>
          <a:xfrm>
            <a:off x="8841105" y="1393190"/>
            <a:ext cx="2601595" cy="4507230"/>
          </a:xfrm>
          <a:prstGeom prst="roundRect">
            <a:avLst>
              <a:gd name="adj" fmla="val 7103"/>
            </a:avLst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36270" y="1508125"/>
            <a:ext cx="451040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App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首页界面新增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"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内容场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"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功能模块，前置资讯内容消费入口，降低信息获取成本，提升信息获取效率。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838200" y="238443"/>
            <a:ext cx="10909300" cy="594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00000"/>
              </a:lnSpc>
              <a:defRPr sz="23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>
                <a:sym typeface="+mn-ea"/>
              </a:rPr>
              <a:t>App</a:t>
            </a:r>
            <a:r>
              <a:rPr lang="zh-CN" altLang="en-US">
                <a:sym typeface="+mn-ea"/>
              </a:rPr>
              <a:t>自选页</a:t>
            </a:r>
            <a:r>
              <a:rPr lang="en-US" altLang="zh-CN">
                <a:sym typeface="+mn-ea"/>
              </a:rPr>
              <a:t> —— </a:t>
            </a:r>
            <a:r>
              <a:rPr lang="zh-CN" altLang="en-US"/>
              <a:t>新增</a:t>
            </a:r>
            <a:r>
              <a:rPr lang="en-US" altLang="zh-CN"/>
              <a:t>“</a:t>
            </a:r>
            <a:r>
              <a:rPr lang="zh-CN" altLang="en-US"/>
              <a:t>全部自选设置</a:t>
            </a:r>
            <a:r>
              <a:rPr lang="en-US" altLang="zh-CN"/>
              <a:t>”</a:t>
            </a:r>
            <a:r>
              <a:rPr lang="zh-CN" altLang="en-US"/>
              <a:t>功能</a:t>
            </a:r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384800" y="760095"/>
            <a:ext cx="5963920" cy="5862320"/>
            <a:chOff x="8657" y="931"/>
            <a:chExt cx="9691" cy="9526"/>
          </a:xfrm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ackgroundRemoval t="0" b="100000" l="52462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527"/>
            <a:stretch>
              <a:fillRect/>
            </a:stretch>
          </p:blipFill>
          <p:spPr>
            <a:xfrm>
              <a:off x="8657" y="931"/>
              <a:ext cx="4790" cy="9526"/>
            </a:xfrm>
            <a:prstGeom prst="rect">
              <a:avLst/>
            </a:prstGeo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图片 6"/>
            <p:cNvPicPr>
              <a:picLocks noChangeAspect="1"/>
            </p:cNvPicPr>
            <p:nvPr userDrawn="1"/>
          </p:nvPicPr>
          <p:blipFill rotWithShape="1"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ackgroundRemoval t="0" b="100000" l="52462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527"/>
            <a:stretch>
              <a:fillRect/>
            </a:stretch>
          </p:blipFill>
          <p:spPr>
            <a:xfrm>
              <a:off x="13560" y="931"/>
              <a:ext cx="4789" cy="9525"/>
            </a:xfrm>
            <a:prstGeom prst="rect">
              <a:avLst/>
            </a:prstGeo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0" name="组合 9"/>
            <p:cNvGrpSpPr/>
            <p:nvPr/>
          </p:nvGrpSpPr>
          <p:grpSpPr>
            <a:xfrm>
              <a:off x="9113" y="1169"/>
              <a:ext cx="4312" cy="9218"/>
              <a:chOff x="8820" y="847"/>
              <a:chExt cx="4312" cy="9218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20" y="847"/>
                <a:ext cx="4239" cy="9218"/>
              </a:xfrm>
              <a:prstGeom prst="roundRect">
                <a:avLst/>
              </a:prstGeom>
            </p:spPr>
          </p:pic>
          <p:sp>
            <p:nvSpPr>
              <p:cNvPr id="6" name="圆角矩形 5"/>
              <p:cNvSpPr/>
              <p:nvPr/>
            </p:nvSpPr>
            <p:spPr>
              <a:xfrm>
                <a:off x="12590" y="1473"/>
                <a:ext cx="543" cy="432"/>
              </a:xfrm>
              <a:prstGeom prst="roundRect">
                <a:avLst/>
              </a:prstGeom>
              <a:noFill/>
              <a:ln w="28575"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" name="圆角矩形 7"/>
              <p:cNvSpPr/>
              <p:nvPr/>
            </p:nvSpPr>
            <p:spPr>
              <a:xfrm>
                <a:off x="10762" y="8922"/>
                <a:ext cx="2370" cy="805"/>
              </a:xfrm>
              <a:prstGeom prst="roundRect">
                <a:avLst/>
              </a:prstGeom>
              <a:noFill/>
              <a:ln w="28575"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3978" y="1030"/>
              <a:ext cx="4315" cy="9385"/>
              <a:chOff x="14025" y="891"/>
              <a:chExt cx="4238" cy="9216"/>
            </a:xfrm>
          </p:grpSpPr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25" y="891"/>
                <a:ext cx="4239" cy="9217"/>
              </a:xfrm>
              <a:prstGeom prst="roundRect">
                <a:avLst/>
              </a:prstGeom>
            </p:spPr>
          </p:pic>
          <p:sp>
            <p:nvSpPr>
              <p:cNvPr id="11" name="圆角矩形 10"/>
              <p:cNvSpPr/>
              <p:nvPr/>
            </p:nvSpPr>
            <p:spPr>
              <a:xfrm>
                <a:off x="14184" y="6515"/>
                <a:ext cx="3978" cy="1343"/>
              </a:xfrm>
              <a:prstGeom prst="roundRect">
                <a:avLst/>
              </a:prstGeom>
              <a:noFill/>
              <a:ln w="28575"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sp>
        <p:nvSpPr>
          <p:cNvPr id="15" name="矩形 14"/>
          <p:cNvSpPr/>
          <p:nvPr/>
        </p:nvSpPr>
        <p:spPr>
          <a:xfrm>
            <a:off x="737235" y="1751965"/>
            <a:ext cx="3862070" cy="2992120"/>
          </a:xfrm>
          <a:prstGeom prst="rect">
            <a:avLst/>
          </a:prstGeom>
        </p:spPr>
        <p:txBody>
          <a:bodyPr wrap="square" rtlCol="0" anchor="t">
            <a:noAutofit/>
          </a:bodyPr>
          <a:p>
            <a:pPr marL="342900" lvl="0" indent="-342900" algn="l">
              <a:lnSpc>
                <a:spcPct val="150000"/>
              </a:lnSpc>
              <a:buClrTx/>
              <a:buSzTx/>
              <a:buFontTx/>
              <a:buAutoNum type="arabicPeriod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新增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全部自选设置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页面，将原本分散的设置项整合至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全部自选设置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页面，使内容分类更明确，整体布局更清晰，便于用户统一访问和管理，提升了操作便捷性与视觉清晰度。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buClrTx/>
              <a:buSzTx/>
              <a:buFontTx/>
              <a:buAutoNum type="arabicPeriod"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列表模式设置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整合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自选列表下单、分时预览设置功能，便于统一设置调整。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37235" y="5748655"/>
            <a:ext cx="4996815" cy="44513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路径：</a:t>
            </a:r>
            <a:endParaRPr lang="zh-CN" altLang="en-US" sz="1400" b="1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自选页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右上角设置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搜索按钮右边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) - 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更多设置</a:t>
            </a:r>
            <a:endParaRPr lang="zh-CN" altLang="en-US" sz="1400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6" name="直接连接符 15"/>
          <p:cNvCxnSpPr/>
          <p:nvPr userDrawn="1"/>
        </p:nvCxnSpPr>
        <p:spPr>
          <a:xfrm flipV="1">
            <a:off x="6185383" y="5584159"/>
            <a:ext cx="2628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headEnd type="oval" w="med" len="med"/>
            <a:tailEnd type="oval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/>
        </p:nvCxnSpPr>
        <p:spPr>
          <a:xfrm flipV="1">
            <a:off x="1396213" y="3206719"/>
            <a:ext cx="2628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headEnd type="oval" w="med" len="med"/>
            <a:tailEnd type="oval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/>
        </p:nvSpPr>
        <p:spPr>
          <a:xfrm>
            <a:off x="838200" y="238443"/>
            <a:ext cx="10909300" cy="594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altLang="zh-CN">
                <a:sym typeface="+mn-ea"/>
              </a:rPr>
              <a:t>App</a:t>
            </a:r>
            <a:r>
              <a:rPr>
                <a:sym typeface="+mn-ea"/>
              </a:rPr>
              <a:t>自选页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ym typeface="+mn-ea"/>
              </a:rPr>
              <a:t>—— </a:t>
            </a:r>
            <a:r>
              <a:rPr>
                <a:sym typeface="+mn-ea"/>
              </a:rPr>
              <a:t>升级</a:t>
            </a:r>
            <a:r>
              <a:rPr>
                <a:sym typeface="+mn-ea"/>
              </a:rPr>
              <a:t>自选</a:t>
            </a:r>
            <a:r>
              <a:rPr lang="zh-CN" altLang="en-US"/>
              <a:t>表头设置页</a:t>
            </a:r>
            <a:r>
              <a:rPr lang="zh-CN" altLang="en-US"/>
              <a:t>功能</a:t>
            </a:r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" name="文本占位符 7"/>
          <p:cNvSpPr txBox="1">
            <a:spLocks noGrp="1"/>
          </p:cNvSpPr>
          <p:nvPr/>
        </p:nvSpPr>
        <p:spPr>
          <a:xfrm>
            <a:off x="3054985" y="1236345"/>
            <a:ext cx="3292475" cy="209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57150" lvl="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新增</a:t>
            </a:r>
            <a:r>
              <a:rPr lang="en-US" altLang="zh-CN">
                <a:sym typeface="+mn-ea"/>
              </a:rPr>
              <a:t>“</a:t>
            </a:r>
            <a:r>
              <a:rPr lang="en-US" altLang="zh-CN">
                <a:sym typeface="+mn-ea"/>
              </a:rPr>
              <a:t>表头模板设置</a:t>
            </a:r>
            <a:r>
              <a:rPr lang="en-US" altLang="zh-CN">
                <a:sym typeface="+mn-ea"/>
              </a:rPr>
              <a:t>”</a:t>
            </a:r>
            <a:r>
              <a:rPr lang="en-US" altLang="zh-CN">
                <a:sym typeface="+mn-ea"/>
              </a:rPr>
              <a:t>功能，</a:t>
            </a:r>
            <a:r>
              <a:rPr lang="en-US" altLang="zh-CN">
                <a:sym typeface="+mn-ea"/>
              </a:rPr>
              <a:t>提供</a:t>
            </a:r>
            <a:r>
              <a:rPr lang="en-US" altLang="zh-CN">
                <a:sym typeface="+mn-ea"/>
              </a:rPr>
              <a:t>创建、保存及调用多套表头模板，满足不同场景下的个性化展示需求。</a:t>
            </a:r>
            <a:endParaRPr lang="en-US" altLang="zh-CN">
              <a:sym typeface="+mn-ea"/>
            </a:endParaRPr>
          </a:p>
          <a:p>
            <a:pPr marL="57150" lvl="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可快速切换模板，减少重复配置，提升操作效率与使用灵活性。</a:t>
            </a:r>
            <a:endParaRPr lang="en-US" altLang="zh-CN">
              <a:sym typeface="+mn-ea"/>
            </a:endParaRPr>
          </a:p>
          <a:p>
            <a:pPr marL="0" lvl="0" algn="l">
              <a:lnSpc>
                <a:spcPct val="150000"/>
              </a:lnSpc>
              <a:buFontTx/>
              <a:buNone/>
            </a:pPr>
            <a:endParaRPr lang="en-US" altLang="zh-CN">
              <a:sym typeface="+mn-ea"/>
            </a:endParaRPr>
          </a:p>
        </p:txBody>
      </p:sp>
      <p:pic>
        <p:nvPicPr>
          <p:cNvPr id="9" name="图片 8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9262110" y="967740"/>
            <a:ext cx="2680335" cy="5305425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6581775" y="967740"/>
            <a:ext cx="2696210" cy="533781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236855" y="967740"/>
            <a:ext cx="2696210" cy="533654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 descr="pa_10100000042275666_767D1C4D-BAED-47DC-83E9-4BC0F114CDBA_1206x2622_mo_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" y="1032510"/>
            <a:ext cx="2378710" cy="5172710"/>
          </a:xfrm>
          <a:prstGeom prst="roundRect">
            <a:avLst/>
          </a:prstGeom>
        </p:spPr>
      </p:pic>
      <p:pic>
        <p:nvPicPr>
          <p:cNvPr id="5" name="图片 4" descr="pa_10100000042275666_92B1B257-442C-4F65-A7ED-7000974538A3_1206x2622_mo_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600" y="1032510"/>
            <a:ext cx="2379193" cy="5173200"/>
          </a:xfrm>
          <a:prstGeom prst="roundRect">
            <a:avLst/>
          </a:prstGeom>
        </p:spPr>
      </p:pic>
      <p:pic>
        <p:nvPicPr>
          <p:cNvPr id="6" name="图片 5" descr="pa_10100000042275666_420DE1C7-E0A6-47D9-A8BE-2DBDF7532D69_1206x2622_mo_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2300" y="1029970"/>
            <a:ext cx="2379193" cy="5173200"/>
          </a:xfrm>
          <a:prstGeom prst="round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6831965" y="5713730"/>
            <a:ext cx="2379980" cy="27432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2538095" y="2761615"/>
            <a:ext cx="344805" cy="27432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47340" y="6289040"/>
            <a:ext cx="7337425" cy="65151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路径：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自选页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自选股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设置（右上角）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设置表头</a:t>
            </a:r>
            <a:endParaRPr lang="zh-CN" altLang="en-US" sz="1400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占位符 7"/>
          <p:cNvSpPr txBox="1">
            <a:spLocks noGrp="1"/>
          </p:cNvSpPr>
          <p:nvPr/>
        </p:nvSpPr>
        <p:spPr>
          <a:xfrm>
            <a:off x="3671570" y="3984625"/>
            <a:ext cx="3053080" cy="16656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57150" lvl="0" indent="-285750" algn="l">
              <a:lnSpc>
                <a:spcPct val="150000"/>
              </a:lnSpc>
            </a:pPr>
            <a:r>
              <a:rPr lang="en-US" altLang="zh-CN">
                <a:sym typeface="+mn-ea"/>
              </a:rPr>
              <a:t>可以根据自己的实际需求设置表头模板的字段，列表的字段适量体验更佳。选择了所需的列表字段后，也可以再次对字段内容进行排序调整。</a:t>
            </a:r>
            <a:endParaRPr lang="en-US" altLang="zh-CN">
              <a:sym typeface="+mn-ea"/>
            </a:endParaRPr>
          </a:p>
          <a:p>
            <a:pPr marL="57150" lvl="0" indent="-285750" algn="l">
              <a:lnSpc>
                <a:spcPct val="150000"/>
              </a:lnSpc>
            </a:pP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917575" y="965835"/>
            <a:ext cx="2830195" cy="563118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/>
          <p:cNvSpPr>
            <a:spLocks noGrp="1"/>
          </p:cNvSpPr>
          <p:nvPr/>
        </p:nvSpPr>
        <p:spPr>
          <a:xfrm>
            <a:off x="838200" y="238443"/>
            <a:ext cx="10909300" cy="594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altLang="zh-CN">
                <a:sym typeface="+mn-ea"/>
              </a:rPr>
              <a:t>App</a:t>
            </a:r>
            <a:r>
              <a:rPr>
                <a:sym typeface="+mn-ea"/>
              </a:rPr>
              <a:t>自选页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ym typeface="+mn-ea"/>
              </a:rPr>
              <a:t>—— </a:t>
            </a:r>
            <a:r>
              <a:rPr>
                <a:sym typeface="+mn-ea"/>
              </a:rPr>
              <a:t>升级</a:t>
            </a:r>
            <a:r>
              <a:rPr lang="zh-CN" altLang="en-US"/>
              <a:t>顶部指数栏设置</a:t>
            </a:r>
            <a:r>
              <a:rPr lang="zh-CN" altLang="en-US"/>
              <a:t>功能</a:t>
            </a:r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7" name="文本占位符 7"/>
          <p:cNvSpPr>
            <a:spLocks noGrp="1"/>
          </p:cNvSpPr>
          <p:nvPr/>
        </p:nvSpPr>
        <p:spPr>
          <a:xfrm>
            <a:off x="6287176" y="2550696"/>
            <a:ext cx="2138550" cy="2226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8664575" y="965835"/>
            <a:ext cx="2830195" cy="563118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160" y="1013460"/>
            <a:ext cx="2547620" cy="5539740"/>
          </a:xfrm>
          <a:prstGeom prst="round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3810" y="1029335"/>
            <a:ext cx="2543175" cy="5529580"/>
          </a:xfrm>
          <a:prstGeom prst="roundRect">
            <a:avLst/>
          </a:prstGeom>
        </p:spPr>
      </p:pic>
      <p:sp>
        <p:nvSpPr>
          <p:cNvPr id="14" name="文本占位符 7"/>
          <p:cNvSpPr txBox="1">
            <a:spLocks noGrp="1"/>
          </p:cNvSpPr>
          <p:nvPr/>
        </p:nvSpPr>
        <p:spPr>
          <a:xfrm>
            <a:off x="5502910" y="3752850"/>
            <a:ext cx="3194685" cy="14382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57150" lvl="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>
                <a:sym typeface="+mn-ea"/>
              </a:rPr>
              <a:t>图标功能具备拖拽排序能力，用户可根据个人使用习惯自由调整显示顺序，操作便捷，界面友好。</a:t>
            </a:r>
            <a:endParaRPr lang="zh-CN" altLang="en-US">
              <a:sym typeface="+mn-ea"/>
            </a:endParaRPr>
          </a:p>
        </p:txBody>
      </p:sp>
      <p:sp>
        <p:nvSpPr>
          <p:cNvPr id="6" name="文本占位符 7"/>
          <p:cNvSpPr txBox="1">
            <a:spLocks noGrp="1"/>
          </p:cNvSpPr>
          <p:nvPr/>
        </p:nvSpPr>
        <p:spPr>
          <a:xfrm>
            <a:off x="3956685" y="1474470"/>
            <a:ext cx="3559175" cy="1461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57150" lvl="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>
                <a:sym typeface="+mn-ea"/>
              </a:rPr>
              <a:t>可自定义添加多个市场指数，满足多指数行情同屏查看需求，覆盖更多投资场景，提升信息获取效率。</a:t>
            </a:r>
            <a:endParaRPr lang="en-US" altLang="zh-CN"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277360" y="6090285"/>
            <a:ext cx="7337425" cy="65151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路径：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自选页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自选股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设置（右上角）</a:t>
            </a:r>
            <a:endParaRPr lang="zh-CN" altLang="en-US" sz="1400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452755" y="960120"/>
            <a:ext cx="3007360" cy="570738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>
                <a:sym typeface="+mn-ea"/>
              </a:rPr>
              <a:t>App</a:t>
            </a:r>
            <a:r>
              <a:rPr>
                <a:sym typeface="+mn-ea"/>
              </a:rPr>
              <a:t>行情页</a:t>
            </a:r>
            <a:r>
              <a:rPr lang="en-US" altLang="zh-CN">
                <a:sym typeface="+mn-ea"/>
              </a:rPr>
              <a:t> —— </a:t>
            </a:r>
            <a:r>
              <a:rPr>
                <a:sym typeface="+mn-ea"/>
              </a:rPr>
              <a:t>新增</a:t>
            </a:r>
            <a:r>
              <a:rPr lang="en-US" altLang="zh-CN">
                <a:sym typeface="+mn-ea"/>
              </a:rPr>
              <a:t>“</a:t>
            </a:r>
            <a:r>
              <a:rPr>
                <a:sym typeface="+mn-ea"/>
              </a:rPr>
              <a:t>机会</a:t>
            </a:r>
            <a:r>
              <a:rPr lang="en-US" altLang="zh-CN">
                <a:sym typeface="+mn-ea"/>
              </a:rPr>
              <a:t>”</a:t>
            </a:r>
            <a:r>
              <a:rPr>
                <a:sym typeface="+mn-ea"/>
              </a:rPr>
              <a:t>栏目和</a:t>
            </a:r>
            <a:r>
              <a:rPr lang="en-US" altLang="zh-CN">
                <a:sym typeface="+mn-ea"/>
              </a:rPr>
              <a:t>AI</a:t>
            </a:r>
            <a:r>
              <a:rPr lang="zh-CN" altLang="en-US">
                <a:sym typeface="+mn-ea"/>
              </a:rPr>
              <a:t>分析功能</a:t>
            </a:r>
            <a:endParaRPr lang="zh-CN" altLang="en-US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596005" y="1422400"/>
            <a:ext cx="4211320" cy="1642745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为满足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快速全面了解行业及概念，板块详情</a:t>
            </a:r>
            <a:r>
              <a:rPr lang="zh-CN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新增板块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机会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栏目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分析手段，助力从消息面，资金面，技术面全面了解板块机会与风险。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79520" y="5850890"/>
            <a:ext cx="4680585" cy="65151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路径：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行情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概念板块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 -  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板块详情</a:t>
            </a:r>
            <a:endParaRPr lang="zh-CN" altLang="en-US" sz="1400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D:/Users/CHENJIAN956/Desktop/板块机会.jpg板块机会"/>
          <p:cNvPicPr>
            <a:picLocks noChangeAspect="1"/>
          </p:cNvPicPr>
          <p:nvPr/>
        </p:nvPicPr>
        <p:blipFill>
          <a:blip r:embed="rId3"/>
          <a:srcRect t="2853" b="2853"/>
          <a:stretch>
            <a:fillRect/>
          </a:stretch>
        </p:blipFill>
        <p:spPr>
          <a:xfrm>
            <a:off x="682625" y="1032510"/>
            <a:ext cx="2726690" cy="5574030"/>
          </a:xfrm>
          <a:prstGeom prst="roundRect">
            <a:avLst>
              <a:gd name="adj" fmla="val 13118"/>
            </a:avLst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8460105" y="960120"/>
            <a:ext cx="2861310" cy="570738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 descr="D:/Users/CHENJIAN956/Desktop/成分股.jpg成分股"/>
          <p:cNvPicPr>
            <a:picLocks noChangeAspect="1"/>
          </p:cNvPicPr>
          <p:nvPr/>
        </p:nvPicPr>
        <p:blipFill>
          <a:blip r:embed="rId4"/>
          <a:srcRect t="1040" b="1040"/>
          <a:stretch>
            <a:fillRect/>
          </a:stretch>
        </p:blipFill>
        <p:spPr>
          <a:xfrm>
            <a:off x="8688705" y="1033145"/>
            <a:ext cx="2594610" cy="5573395"/>
          </a:xfrm>
          <a:prstGeom prst="roundRect">
            <a:avLst>
              <a:gd name="adj" fmla="val 13118"/>
            </a:avLst>
          </a:prstGeom>
        </p:spPr>
      </p:pic>
      <p:sp>
        <p:nvSpPr>
          <p:cNvPr id="6" name="文本框 5"/>
          <p:cNvSpPr txBox="1"/>
          <p:nvPr/>
        </p:nvSpPr>
        <p:spPr>
          <a:xfrm>
            <a:off x="4461510" y="3654425"/>
            <a:ext cx="4114800" cy="1374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成分股列表新增个股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分析功能，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助力快速、全面了解个股机会与风险，实现择优选股。该功能可自行选择开启或关闭。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8504555" y="970915"/>
            <a:ext cx="2802890" cy="550545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5734050" y="970915"/>
            <a:ext cx="2802890" cy="550545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App</a:t>
            </a:r>
            <a:r>
              <a:rPr>
                <a:sym typeface="+mn-ea"/>
              </a:rPr>
              <a:t>交易页</a:t>
            </a:r>
            <a:r>
              <a:rPr lang="en-US" altLang="zh-CN">
                <a:sym typeface="+mn-ea"/>
              </a:rPr>
              <a:t> —— </a:t>
            </a:r>
            <a:r>
              <a:rPr>
                <a:sym typeface="+mn-ea"/>
              </a:rPr>
              <a:t>策略交易涨停买卖新增两种触发模式</a:t>
            </a:r>
            <a:endParaRPr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33400" y="1318260"/>
            <a:ext cx="4949825" cy="1440815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涨停买卖策略，新增两种触发模式：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涨停且满足一定封单（买一）手数时触发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涨停且满足一定压单（卖一）手数时触发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33400" y="6092190"/>
            <a:ext cx="4680585" cy="32829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p>
            <a:pPr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路径：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交易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策略交易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信用策略交易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涨停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买卖</a:t>
            </a:r>
            <a:endParaRPr lang="zh-CN" altLang="en-US" sz="1400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430" y="1054100"/>
            <a:ext cx="2482215" cy="5380355"/>
          </a:xfrm>
          <a:prstGeom prst="round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1570" y="1054100"/>
            <a:ext cx="2482215" cy="5380355"/>
          </a:xfrm>
          <a:prstGeom prst="round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33400" y="3221355"/>
            <a:ext cx="5158105" cy="2306955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使用技巧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】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通过监控压单、封单手数，精准把握涨停买卖时机：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涨停后考虑买入：封单量大、压单量小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→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买盘强劲，市场看好后市；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涨停后考虑卖出：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封单量小、压单量大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→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趋势转弱，警惕回调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387985" y="967740"/>
            <a:ext cx="2772000" cy="5436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8972550" y="1082040"/>
            <a:ext cx="2772000" cy="5436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App</a:t>
            </a:r>
            <a:r>
              <a:rPr>
                <a:sym typeface="+mn-ea"/>
              </a:rPr>
              <a:t>交易页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ym typeface="+mn-ea"/>
              </a:rPr>
              <a:t>—— </a:t>
            </a:r>
            <a:r>
              <a:rPr>
                <a:sym typeface="+mn-ea"/>
              </a:rPr>
              <a:t>策略交易网格交易功能升级</a:t>
            </a:r>
            <a:endParaRPr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03575" y="1228090"/>
            <a:ext cx="4538980" cy="1262380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新增【按成交价更新基准价】的设置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按成交价更新基准价，按真实成交价驱动网格，告别触发价更新基准价的偏差。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68065" y="6038215"/>
            <a:ext cx="5594985" cy="36576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p>
            <a:pPr indent="0" algn="ctr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路径：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交易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策略交易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信用策略交易</a:t>
            </a: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lang="zh-CN" altLang="en-US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网格交易</a:t>
            </a:r>
            <a:endParaRPr lang="zh-CN" altLang="en-US" sz="1400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011555"/>
            <a:ext cx="2467610" cy="5347970"/>
          </a:xfrm>
          <a:prstGeom prst="round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325" y="1125855"/>
            <a:ext cx="2466975" cy="5347970"/>
          </a:xfrm>
          <a:prstGeom prst="round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946525" y="4328160"/>
            <a:ext cx="4323080" cy="1198880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【使用技巧】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按成交价更新基准价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开启自动休眠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=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委托失败时自动休眠，基准价不更新。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9163050" y="3684905"/>
            <a:ext cx="2492375" cy="64325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603250" y="2545715"/>
            <a:ext cx="2492375" cy="58610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408170" y="2611120"/>
            <a:ext cx="475488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交易类型扩展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此前两融网格的买入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卖出类型仅提供担保品买入和担保品卖出，现新增融资买入和卖券还款两种类型。便于两融网格用户进行融资交易。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665480" y="1536065"/>
            <a:ext cx="2275205" cy="4572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3562350" y="1536065"/>
            <a:ext cx="2275205" cy="4572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6447790" y="1536065"/>
            <a:ext cx="2275205" cy="4572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片 12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9308465" y="1536065"/>
            <a:ext cx="2258695" cy="4572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3" name="标题 1"/>
          <p:cNvSpPr>
            <a:spLocks noGrp="1"/>
          </p:cNvSpPr>
          <p:nvPr/>
        </p:nvSpPr>
        <p:spPr>
          <a:xfrm>
            <a:off x="838200" y="238443"/>
            <a:ext cx="10909300" cy="594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altLang="zh-CN">
                <a:sym typeface="+mn-ea"/>
              </a:rPr>
              <a:t>App</a:t>
            </a:r>
            <a:r>
              <a:rPr>
                <a:sym typeface="+mn-ea"/>
              </a:rPr>
              <a:t>交易页</a:t>
            </a:r>
            <a:r>
              <a:rPr lang="en-US" altLang="zh-CN">
                <a:sym typeface="+mn-ea"/>
              </a:rPr>
              <a:t> —— </a:t>
            </a:r>
            <a:r>
              <a:rPr>
                <a:sym typeface="+mn-ea"/>
              </a:rPr>
              <a:t>资产盈亏扩充时间范围</a:t>
            </a:r>
            <a:endParaRPr>
              <a:sym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3755390" y="6385560"/>
            <a:ext cx="4680585" cy="65151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p>
            <a:pPr marL="285750" indent="-285750" algn="ctr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路径：</a:t>
            </a:r>
            <a:r>
              <a:rPr lang="zh-CN" altLang="en-US" sz="1200" i="1">
                <a:latin typeface="微软雅黑" panose="020B0503020204020204" pitchFamily="34" charset="-122"/>
                <a:ea typeface="微软雅黑" panose="020B0503020204020204" pitchFamily="34" charset="-122"/>
              </a:rPr>
              <a:t>行情</a:t>
            </a:r>
            <a:r>
              <a:rPr lang="en-US" altLang="zh-CN" sz="1200" i="1">
                <a:latin typeface="微软雅黑" panose="020B0503020204020204" pitchFamily="34" charset="-122"/>
                <a:ea typeface="微软雅黑" panose="020B0503020204020204" pitchFamily="34" charset="-122"/>
              </a:rPr>
              <a:t>  -  </a:t>
            </a:r>
            <a:r>
              <a:rPr lang="zh-CN" altLang="en-US" sz="1200" i="1">
                <a:latin typeface="微软雅黑" panose="020B0503020204020204" pitchFamily="34" charset="-122"/>
                <a:ea typeface="微软雅黑" panose="020B0503020204020204" pitchFamily="34" charset="-122"/>
              </a:rPr>
              <a:t>可转债</a:t>
            </a:r>
            <a:r>
              <a:rPr lang="en-US" altLang="zh-CN" sz="1200" i="1">
                <a:latin typeface="微软雅黑" panose="020B0503020204020204" pitchFamily="34" charset="-122"/>
                <a:ea typeface="微软雅黑" panose="020B0503020204020204" pitchFamily="34" charset="-122"/>
              </a:rPr>
              <a:t> -  </a:t>
            </a:r>
            <a:r>
              <a:rPr lang="zh-CN" altLang="en-US" sz="1200" i="1">
                <a:latin typeface="微软雅黑" panose="020B0503020204020204" pitchFamily="34" charset="-122"/>
                <a:ea typeface="微软雅黑" panose="020B0503020204020204" pitchFamily="34" charset="-122"/>
              </a:rPr>
              <a:t>套利机会</a:t>
            </a:r>
            <a:endParaRPr lang="zh-CN" altLang="en-US" sz="1200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59155" y="942975"/>
            <a:ext cx="1121981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 algn="l" fontAlgn="auto">
              <a:spcAft>
                <a:spcPts val="600"/>
              </a:spcAft>
              <a:buClrTx/>
              <a:buSzTx/>
              <a:buFont typeface="+mj-lt"/>
              <a:buNone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 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提供查看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2016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年至今的收益及走势图，可按年查看收益情况；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 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自定义区间提供查询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2016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年至今的任意时间段。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20" y="1615440"/>
            <a:ext cx="2050796" cy="4446000"/>
          </a:xfrm>
          <a:prstGeom prst="round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230" y="1607185"/>
            <a:ext cx="2050796" cy="4446000"/>
          </a:xfrm>
          <a:prstGeom prst="round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1345" y="1607185"/>
            <a:ext cx="2050796" cy="4446000"/>
          </a:xfrm>
          <a:prstGeom prst="round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1940" y="1609725"/>
            <a:ext cx="2050796" cy="4446000"/>
          </a:xfrm>
          <a:prstGeom prst="round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693420" y="1636395"/>
            <a:ext cx="2275205" cy="4572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3562350" y="1636395"/>
            <a:ext cx="2275205" cy="4572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6447790" y="1636395"/>
            <a:ext cx="2275205" cy="4572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片 12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9308465" y="1636395"/>
            <a:ext cx="2258695" cy="4572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3" name="标题 1"/>
          <p:cNvSpPr>
            <a:spLocks noGrp="1"/>
          </p:cNvSpPr>
          <p:nvPr/>
        </p:nvSpPr>
        <p:spPr>
          <a:xfrm>
            <a:off x="838200" y="238443"/>
            <a:ext cx="10909300" cy="594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altLang="zh-CN">
                <a:sym typeface="+mn-ea"/>
              </a:rPr>
              <a:t>App</a:t>
            </a:r>
            <a:r>
              <a:rPr>
                <a:sym typeface="+mn-ea"/>
              </a:rPr>
              <a:t>交易页</a:t>
            </a:r>
            <a:r>
              <a:rPr lang="en-US" altLang="zh-CN">
                <a:sym typeface="+mn-ea"/>
              </a:rPr>
              <a:t> —— </a:t>
            </a:r>
            <a:r>
              <a:rPr>
                <a:sym typeface="+mn-ea"/>
              </a:rPr>
              <a:t>个股盈亏和</a:t>
            </a:r>
            <a:r>
              <a:rPr>
                <a:sym typeface="+mn-ea"/>
              </a:rPr>
              <a:t>清仓股新增按标的搜索功能</a:t>
            </a:r>
            <a:endParaRPr>
              <a:sym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3755390" y="6385560"/>
            <a:ext cx="4680585" cy="65151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p>
            <a:pPr marL="285750" indent="-285750" algn="ctr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路径：</a:t>
            </a:r>
            <a:r>
              <a:rPr lang="zh-CN" altLang="en-US" sz="1200" i="1">
                <a:latin typeface="微软雅黑" panose="020B0503020204020204" pitchFamily="34" charset="-122"/>
                <a:ea typeface="微软雅黑" panose="020B0503020204020204" pitchFamily="34" charset="-122"/>
              </a:rPr>
              <a:t>行情</a:t>
            </a:r>
            <a:r>
              <a:rPr lang="en-US" altLang="zh-CN" sz="1200" i="1">
                <a:latin typeface="微软雅黑" panose="020B0503020204020204" pitchFamily="34" charset="-122"/>
                <a:ea typeface="微软雅黑" panose="020B0503020204020204" pitchFamily="34" charset="-122"/>
              </a:rPr>
              <a:t>  -  </a:t>
            </a:r>
            <a:r>
              <a:rPr lang="zh-CN" altLang="en-US" sz="1200" i="1">
                <a:latin typeface="微软雅黑" panose="020B0503020204020204" pitchFamily="34" charset="-122"/>
                <a:ea typeface="微软雅黑" panose="020B0503020204020204" pitchFamily="34" charset="-122"/>
              </a:rPr>
              <a:t>可转债</a:t>
            </a:r>
            <a:r>
              <a:rPr lang="en-US" altLang="zh-CN" sz="1200" i="1">
                <a:latin typeface="微软雅黑" panose="020B0503020204020204" pitchFamily="34" charset="-122"/>
                <a:ea typeface="微软雅黑" panose="020B0503020204020204" pitchFamily="34" charset="-122"/>
              </a:rPr>
              <a:t> -  </a:t>
            </a:r>
            <a:r>
              <a:rPr lang="zh-CN" altLang="en-US" sz="1200" i="1">
                <a:latin typeface="微软雅黑" panose="020B0503020204020204" pitchFamily="34" charset="-122"/>
                <a:ea typeface="微软雅黑" panose="020B0503020204020204" pitchFamily="34" charset="-122"/>
              </a:rPr>
              <a:t>套利机会</a:t>
            </a:r>
            <a:endParaRPr lang="zh-CN" altLang="en-US" sz="1200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8200" y="1069340"/>
            <a:ext cx="10695940" cy="3898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 algn="ctr" fontAlgn="auto">
              <a:spcAft>
                <a:spcPts val="600"/>
              </a:spcAft>
              <a:buClrTx/>
              <a:buSzTx/>
              <a:buFont typeface="+mj-lt"/>
              <a:buNone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新增按标的物搜索查询功能，简化用户操作。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1737995"/>
            <a:ext cx="2055777" cy="4456800"/>
          </a:xfrm>
          <a:prstGeom prst="round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230" y="1684020"/>
            <a:ext cx="2054487" cy="4456800"/>
          </a:xfrm>
          <a:prstGeom prst="round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1684020"/>
            <a:ext cx="2055777" cy="4456800"/>
          </a:xfrm>
          <a:prstGeom prst="round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9280" y="1684020"/>
            <a:ext cx="2055777" cy="4456800"/>
          </a:xfrm>
          <a:prstGeom prst="round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>
                <a:sym typeface="+mn-ea"/>
              </a:rPr>
              <a:t>底部财小安</a:t>
            </a:r>
            <a:r>
              <a:rPr lang="en-US" altLang="zh-CN">
                <a:sym typeface="+mn-ea"/>
              </a:rPr>
              <a:t>tab</a:t>
            </a:r>
            <a:r>
              <a:rPr lang="zh-CN" altLang="en-US">
                <a:sym typeface="+mn-ea"/>
              </a:rPr>
              <a:t>支持长按唤起半屏</a:t>
            </a:r>
            <a:r>
              <a:rPr lang="en-US" altLang="zh-CN">
                <a:sym typeface="+mn-ea"/>
              </a:rPr>
              <a:t>IM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889635" y="1875155"/>
            <a:ext cx="4211320" cy="1076325"/>
          </a:xfrm>
        </p:spPr>
        <p:txBody>
          <a:bodyPr wrap="square"/>
          <a:p>
            <a:pPr algn="l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zh-CN" altLang="en-US"/>
              <a:t>支持客户长按底部的财小安数字人形象唤起财小安的半屏</a:t>
            </a:r>
            <a:r>
              <a:rPr lang="en-US" altLang="zh-CN"/>
              <a:t>IM</a:t>
            </a:r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889635" y="4911090"/>
            <a:ext cx="4996815" cy="44513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p>
            <a:pPr marL="285750" indent="-285750" algn="l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路径：行情</a:t>
            </a:r>
            <a:r>
              <a:rPr lang="en-US" altLang="zh-CN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底部长按财小安</a:t>
            </a:r>
            <a:endParaRPr lang="zh-CN" altLang="en-US" sz="1400" b="1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zh-CN" altLang="en-US" sz="1400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占位符 2"/>
          <p:cNvSpPr>
            <a:spLocks noGrp="1"/>
          </p:cNvSpPr>
          <p:nvPr/>
        </p:nvSpPr>
        <p:spPr>
          <a:xfrm>
            <a:off x="7852410" y="6320155"/>
            <a:ext cx="2692400" cy="28448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altLang="zh-CN" sz="1600" kern="12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 b="1">
                <a:solidFill>
                  <a:srgbClr val="FF0000"/>
                </a:solidFill>
              </a:rPr>
              <a:t>（设计图，仅样式供参考）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6450" y="342900"/>
            <a:ext cx="2865120" cy="59766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555" y="342900"/>
            <a:ext cx="2863850" cy="59766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盯盘首页</a:t>
            </a:r>
            <a:r>
              <a:rPr lang="en-US" altLang="zh-CN"/>
              <a:t>-</a:t>
            </a:r>
            <a:r>
              <a:rPr lang="zh-CN" altLang="en-US"/>
              <a:t>新增我的盯盘卡片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88620" y="6004560"/>
            <a:ext cx="4996815" cy="44513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p>
            <a:pPr marL="285750" indent="-285750" algn="l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路径：行情</a:t>
            </a:r>
            <a:r>
              <a:rPr lang="en-US" altLang="zh-CN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盯盘</a:t>
            </a:r>
            <a:endParaRPr lang="zh-CN" altLang="en-US" sz="1400" b="1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1400" b="1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endParaRPr lang="zh-CN" altLang="en-US" sz="1400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占位符 2"/>
          <p:cNvSpPr>
            <a:spLocks noGrp="1"/>
          </p:cNvSpPr>
          <p:nvPr/>
        </p:nvSpPr>
        <p:spPr>
          <a:xfrm>
            <a:off x="6686550" y="6320155"/>
            <a:ext cx="2692400" cy="28448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altLang="zh-CN" sz="1600" kern="12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 b="1">
                <a:solidFill>
                  <a:srgbClr val="FF0000"/>
                </a:solidFill>
              </a:rPr>
              <a:t>（设计图，仅样式供参考）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1210" y="833120"/>
            <a:ext cx="2459990" cy="51714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760" y="833120"/>
            <a:ext cx="2536190" cy="52908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515" y="810895"/>
            <a:ext cx="2546985" cy="5313045"/>
          </a:xfrm>
          <a:prstGeom prst="rect">
            <a:avLst/>
          </a:prstGeom>
        </p:spPr>
      </p:pic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318770" y="1875155"/>
            <a:ext cx="4220845" cy="1696720"/>
          </a:xfrm>
        </p:spPr>
        <p:txBody>
          <a:bodyPr wrap="square"/>
          <a:p>
            <a:pPr algn="l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en-US" altLang="zh-CN"/>
              <a:t>1</a:t>
            </a:r>
            <a:r>
              <a:rPr lang="zh-CN" altLang="en-US"/>
              <a:t>、展示我的盯盘设置</a:t>
            </a:r>
            <a:endParaRPr lang="zh-CN" altLang="en-US"/>
          </a:p>
          <a:p>
            <a:pPr algn="l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en-US" altLang="zh-CN"/>
              <a:t>2</a:t>
            </a:r>
            <a:r>
              <a:rPr lang="zh-CN" altLang="en-US"/>
              <a:t>、原先的盘面解读底部弹窗移动至行情</a:t>
            </a:r>
            <a:r>
              <a:rPr lang="en-US" altLang="zh-CN"/>
              <a:t>-</a:t>
            </a:r>
            <a:r>
              <a:rPr lang="zh-CN" altLang="en-US"/>
              <a:t>沪深京</a:t>
            </a:r>
            <a:r>
              <a:rPr lang="en-US" altLang="zh-CN"/>
              <a:t>-</a:t>
            </a:r>
            <a:r>
              <a:rPr lang="zh-CN" altLang="en-US"/>
              <a:t>盘面解读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财小安选股迭代</a:t>
            </a:r>
            <a:r>
              <a:rPr lang="en-US" altLang="zh-CN"/>
              <a:t>(</a:t>
            </a:r>
            <a:r>
              <a:rPr lang="zh-CN" altLang="en-US"/>
              <a:t>关键问句优化、涨停狙击手卡片升级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889635" y="1875155"/>
            <a:ext cx="4389755" cy="3046095"/>
          </a:xfrm>
        </p:spPr>
        <p:txBody>
          <a:bodyPr wrap="square"/>
          <a:p>
            <a:pPr algn="l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zh-CN" altLang="en-US"/>
              <a:t>新版把</a:t>
            </a:r>
            <a:r>
              <a:rPr lang="en-US" altLang="zh-CN"/>
              <a:t>"</a:t>
            </a:r>
            <a:r>
              <a:rPr lang="zh-CN" altLang="en-US"/>
              <a:t>涨停狙击手</a:t>
            </a:r>
            <a:r>
              <a:rPr lang="en-US" altLang="zh-CN"/>
              <a:t>"</a:t>
            </a:r>
            <a:r>
              <a:rPr lang="zh-CN" altLang="en-US"/>
              <a:t>卡片顶部的四个数据标签（当日涨停</a:t>
            </a:r>
            <a:r>
              <a:rPr lang="en-US" altLang="zh-CN"/>
              <a:t> / </a:t>
            </a:r>
            <a:r>
              <a:rPr lang="zh-CN" altLang="en-US"/>
              <a:t>连板涨停</a:t>
            </a:r>
            <a:r>
              <a:rPr lang="en-US" altLang="zh-CN"/>
              <a:t> / </a:t>
            </a:r>
            <a:r>
              <a:rPr lang="zh-CN" altLang="en-US"/>
              <a:t>触及涨停</a:t>
            </a:r>
            <a:r>
              <a:rPr lang="en-US" altLang="zh-CN"/>
              <a:t> / </a:t>
            </a:r>
            <a:r>
              <a:rPr lang="zh-CN" altLang="en-US"/>
              <a:t>封板率）从</a:t>
            </a:r>
            <a:r>
              <a:rPr lang="en-US" altLang="zh-CN"/>
              <a:t>"</a:t>
            </a:r>
            <a:r>
              <a:rPr lang="zh-CN" altLang="en-US"/>
              <a:t>只能看</a:t>
            </a:r>
            <a:r>
              <a:rPr lang="en-US" altLang="zh-CN"/>
              <a:t>"</a:t>
            </a:r>
            <a:r>
              <a:rPr lang="zh-CN" altLang="en-US"/>
              <a:t>升级为</a:t>
            </a:r>
            <a:r>
              <a:rPr lang="en-US" altLang="zh-CN"/>
              <a:t>"</a:t>
            </a:r>
            <a:r>
              <a:rPr lang="zh-CN" altLang="en-US"/>
              <a:t>可点击</a:t>
            </a:r>
            <a:r>
              <a:rPr lang="en-US" altLang="zh-CN"/>
              <a:t>"——</a:t>
            </a:r>
            <a:r>
              <a:rPr lang="zh-CN" altLang="en-US"/>
              <a:t>点击任一标签即由底部唤起半屏弹窗，展示该维度的完整榜单与明细，让用户从情绪概览一步直达全量数据。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38200" y="5686425"/>
            <a:ext cx="4996815" cy="77533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p>
            <a:pPr marL="285750" indent="-285750" algn="l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路径：行情</a:t>
            </a:r>
            <a:r>
              <a:rPr lang="en-US" altLang="zh-CN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tab-</a:t>
            </a:r>
            <a:r>
              <a:rPr lang="zh-CN" altLang="en-US" sz="1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选股</a:t>
            </a:r>
            <a:endParaRPr lang="zh-CN" altLang="en-US" sz="1400" b="1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sz="1400" i="1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endParaRPr lang="zh-CN" altLang="en-US" sz="1400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占位符 2"/>
          <p:cNvSpPr>
            <a:spLocks noGrp="1"/>
          </p:cNvSpPr>
          <p:nvPr/>
        </p:nvSpPr>
        <p:spPr>
          <a:xfrm>
            <a:off x="7852410" y="6320155"/>
            <a:ext cx="2692400" cy="28448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altLang="zh-CN" sz="1600" kern="12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 b="1">
                <a:solidFill>
                  <a:srgbClr val="FF0000"/>
                </a:solidFill>
              </a:rPr>
              <a:t>（设计图，仅样式供参考）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3255" y="833120"/>
            <a:ext cx="2331720" cy="50723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975" y="832485"/>
            <a:ext cx="2332355" cy="50730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1755</Words>
  <Application>WPS 演示</Application>
  <PresentationFormat>宽屏</PresentationFormat>
  <Paragraphs>119</Paragraphs>
  <Slides>13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Calibri</vt:lpstr>
      <vt:lpstr>Wingdings</vt:lpstr>
      <vt:lpstr>Arial Unicode MS</vt:lpstr>
      <vt:lpstr>等线 Light</vt:lpstr>
      <vt:lpstr>等线</vt:lpstr>
      <vt:lpstr>Office 主题​​</vt:lpstr>
      <vt:lpstr>平安证券App 10.7.0版本  重点功能介绍</vt:lpstr>
      <vt:lpstr>PowerPoint 演示文稿</vt:lpstr>
      <vt:lpstr>PowerPoint 演示文稿</vt:lpstr>
      <vt:lpstr>PowerPoint 演示文稿</vt:lpstr>
      <vt:lpstr>PowerPoint 演示文稿</vt:lpstr>
      <vt:lpstr>App行情页 —— 新增“机会”栏目和AI分析功能</vt:lpstr>
      <vt:lpstr>App交易页 —— 策略交易涨停买卖新增两种触发模式</vt:lpstr>
      <vt:lpstr>App交易页 —— 策略交易网格交易功能升级</vt:lpstr>
      <vt:lpstr>PowerPoint 演示文稿</vt:lpstr>
      <vt:lpstr>PowerPoint 演示文稿</vt:lpstr>
      <vt:lpstr>底部财小安tab支持长按唤起半屏IM</vt:lpstr>
      <vt:lpstr>盯盘首页-新增我的盯盘卡片</vt:lpstr>
      <vt:lpstr>财小安选股迭代(关键问句优化、涨停狙击手卡片升级)</vt:lpstr>
    </vt:vector>
  </TitlesOfParts>
  <Company>PAIG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何律师</cp:lastModifiedBy>
  <cp:revision>461</cp:revision>
  <dcterms:created xsi:type="dcterms:W3CDTF">2020-10-19T05:35:00Z</dcterms:created>
  <dcterms:modified xsi:type="dcterms:W3CDTF">2026-08-18T09:44:09Z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80729E594E734BA18AD6C7D1F62A6781_13</vt:lpwstr>
  </property>
  <property fmtid="{D5CDD505-2E9C-101B-9397-08002B2CF9AE}" pid="3" name="KSOProductBuildVer">
    <vt:lpwstr>2052-12.1.0.28043</vt:lpwstr>
  </property>
</Properties>
</file>